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0182"/>
    <p:restoredTop sz="94662"/>
  </p:normalViewPr>
  <p:slideViewPr>
    <p:cSldViewPr snapToGrid="0">
      <p:cViewPr varScale="1">
        <p:scale>
          <a:sx n="140" d="100"/>
          <a:sy n="140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hybrid solver is our project approach to the challenge.</a:t>
            </a:r>
          </a:p>
          <a:p>
            <a:r>
              <a:t>CP-SAT proves the minimum hub count over connected feasible zones.</a:t>
            </a:r>
          </a:p>
          <a:p>
            <a:r>
              <a:t>Held-Karp solves the visit order for up to five devices, while direction-state A* supplies legal rectilinear paths.</a:t>
            </a:r>
          </a:p>
          <a:p>
            <a:r>
              <a:t>A ring candidate contains the zone, positions, order and complete geometry. Global CP-SAT accounts for interactions between rings.</a:t>
            </a:r>
          </a:p>
          <a:p>
            <a:r>
              <a:t>ALNS then perturbs rooms, positions and paths, while preserving the best checked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left image is the working geometry, visualisation and checker prototype. It is evidence of the implementation foundation, not a result from the complete hybrid optimizer.</a:t>
            </a:r>
          </a:p>
          <a:p>
            <a:r>
              <a:t>The right image is the key optimization counterexample. The current route is valid but costs 26.57.</a:t>
            </a:r>
          </a:p>
          <a:p>
            <a:r>
              <a:t>A second independently checked route uses the same two hubs and costs 15.975. This motivates global selection of complete ring alternatives.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implementation plan for the project's hybrid optimizer.</a:t>
            </a:r>
          </a:p>
          <a:p>
            <a:r>
              <a:t>The global candidate selector closes the concrete gap observed on the disconnected case.</a:t>
            </a:r>
          </a:p>
          <a:p>
            <a:r>
              <a:t>ALNS adds improvement under a time limit without sacrificing a valid incumbent.</a:t>
            </a:r>
          </a:p>
          <a:p>
            <a:r>
              <a:t>The dataset supports benchmarking and parameter tuning. No machine-learning training is required for the core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2B8C5-17D2-10B8-E10C-B6CF7958B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E65844-3EE9-7F97-A7AE-989AFA3DF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56DE2-82A4-7BF8-DFD2-845421BA45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49C70-691C-D0CB-51A1-53282A3C6B0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4CAB0F-4E02-6456-3A1C-4CCD05A0E3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661EE-43EC-3853-5540-F0A8BBAA4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3E7E8-140B-152A-B3F1-462DB90F4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E9BDC-967E-D42E-DEF0-D37C03469D4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C5A7E-724E-7221-7C66-47B90DB5AA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BF641-64FD-A5BC-95AC-64055DD37FB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E071-6F43-2CAB-8B9E-468D262FF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3B2DD-BDF8-2F12-6851-82828FB3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DF150-1266-1EF5-D4B2-3986DF86100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66900-785C-E200-A93B-2BB7794BE1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56D91-075A-13C7-C41C-47ABC7BFC7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E331-8445-F510-1E95-DBCE64DB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970BB-CA18-C9E3-606A-0A50D2F32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3A77F-07B2-A649-78CB-E0B8D42FD5A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DAF48-7327-D7C3-CE4A-39F865BD087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DDF75-79E4-1A39-1042-6A2CF8959D1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F34CA5-BE73-5F62-DD52-948BD8F947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79BFD-F080-97DD-D637-82E2F9C0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27D96-7F95-17EC-3305-7A6DC9BD4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3B8A67-D90B-E802-7845-2F22A2710BE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08DC10-106D-B64D-FB50-BF085858C43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67623-D629-467D-7B25-E94DDB216062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91B685-467F-14B1-9BC4-24F9469C09D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8F4731-F439-4E7C-7AF4-EFE01D72209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7BC797-3603-1F9C-9B07-533C1DF998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77C03-3544-B28F-6942-871B3E690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52ACA9-B585-8441-4A04-FF453FB9109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9FA25-4602-857D-B9D0-9E9072FD26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2D7D4-EA8A-BFAD-5AFD-E24DA6C141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C080E-5529-E076-0597-A800FCB951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7FF22E-2B44-27C7-5D31-14C9C56A657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93C5D-AAE8-4BE7-C500-F37511045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BA181-10D0-551F-2D7F-6ECB5BEE8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6A4A5-A317-A2B5-0837-5E85E0F87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3BDD-1E33-67BD-2264-8A55C6E1253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D1349D-D702-8D5F-B37E-5C4DCAF67D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DF4F3-A2C1-A92E-291F-77166CB9EC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5B5ACF-ADDC-C7FC-7496-8820358FA8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7DB0-C228-7504-1F1C-43A82147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967BC9-1F93-7364-EAE7-905ABD9F3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DFAB1-DEAB-BFEF-DAC8-5A1AF199D5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3FD094-AAE7-67B8-F15E-60A50098E66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2755A-6EE4-1ED9-66D4-0B6E81A80A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D0E7A-956D-926E-B314-9E82117837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0AD22-F4F0-1619-76EA-580095182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F2D17-AF1B-B88E-AA12-A22217B176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CA643-5D97-B3A6-1CAF-DB180290C2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421CB-2117-26CB-71B6-0575B6EEA86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E66CE-505C-427A-6608-0D933143A2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1FEB76-9EB8-6E77-1FFE-3B57D9EC5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D18A65-3491-BA2A-960F-5CE649DA6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51B54-F18F-2548-33A8-5AAD1F178D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E4768-D1F4-9FE3-E47F-EC40820401D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36E3-45CE-F15E-985F-C3F4A1DC26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0925C79-F547-480E-8EDB-D39EAE0122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1C54A0-72D7-8473-E5A0-AACDA9DB7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101D5-28D4-0176-2A7A-E4CC1DD42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39ED-0C5C-FFA0-C3E2-328FC981C27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07EF3-176B-4C4C-81B1-E97FABBC1AB3}" type="datetimeFigureOut">
              <a:t>10/16/26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2BC1E-B30B-5E8C-59C2-DCB66684AF4F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A00B0-9CBC-DC60-91C0-DDA54A321B5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925C79-F547-480E-8EDB-D39EAE01225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81DC6-CD6E-4B5E-8A0A-F9A125346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Cable ring routing: our optimization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22E61-5B8B-4141-B1E7-829BCEB10970}"/>
              </a:ext>
            </a:extLst>
          </p:cNvPr>
          <p:cNvSpPr>
            <a:spLocks noGrp="1"/>
          </p:cNvSpPr>
          <p:nvPr/>
        </p:nvSpPr>
        <p:spPr>
          <a:xfrm>
            <a:off x="457200" y="822960"/>
            <a:ext cx="1127455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One search over hub count, connected zones, device positions and cable paths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7C852A-428E-4DC8-B4A2-C4D6EB3E1E7F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C83717-0A94-4E6C-98D2-F499D8843AC5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5486400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C8AE2-72C8-426E-ABB6-111C2DD1A3CE}"/>
              </a:ext>
            </a:extLst>
          </p:cNvPr>
          <p:cNvSpPr>
            <a:spLocks noGrp="1"/>
          </p:cNvSpPr>
          <p:nvPr/>
        </p:nvSpPr>
        <p:spPr>
          <a:xfrm>
            <a:off x="6035040" y="6492240"/>
            <a:ext cx="5696712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</a:t>
            </a:r>
            <a:r>
              <a:rPr lang="en-US"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 Team: </a:t>
            </a:r>
            <a:r>
              <a:rPr lang="en-US"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Bro Code</a:t>
            </a:r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 1 /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0563562-DFFC-49BB-845E-6ABCB626BB8E}"/>
              </a:ext>
            </a:extLst>
          </p:cNvPr>
          <p:cNvSpPr>
            <a:spLocks noGrp="1"/>
          </p:cNvSpPr>
          <p:nvPr/>
        </p:nvSpPr>
        <p:spPr>
          <a:xfrm>
            <a:off x="457200" y="1417320"/>
            <a:ext cx="11274552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29D9DA-BDB1-4681-9754-7797143C59EC}"/>
              </a:ext>
            </a:extLst>
          </p:cNvPr>
          <p:cNvSpPr>
            <a:spLocks noGrp="1"/>
          </p:cNvSpPr>
          <p:nvPr/>
        </p:nvSpPr>
        <p:spPr>
          <a:xfrm>
            <a:off x="566928" y="1533581"/>
            <a:ext cx="11064240" cy="22250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100" b="1" i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Team:  </a:t>
            </a:r>
            <a:r>
              <a:rPr lang="en-US" sz="1100" b="1" i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Bro Code                    </a:t>
            </a:r>
            <a:r>
              <a:rPr sz="1100" b="1" i="0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Members:  </a:t>
            </a:r>
            <a:r>
              <a:rPr lang="en-US" sz="1100" b="1" dirty="0">
                <a:solidFill>
                  <a:srgbClr val="1F2933"/>
                </a:solidFill>
                <a:latin typeface="Aptos"/>
                <a:ea typeface="Aptos"/>
                <a:cs typeface="Aptos"/>
              </a:rPr>
              <a:t>Jahnavi sri Sai Akveti, Nakshatra Vinoth , Kaustubh Borle</a:t>
            </a:r>
            <a:endParaRPr sz="1100" b="1" i="0" dirty="0">
              <a:solidFill>
                <a:srgbClr val="1F293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15A1033-A551-4D47-B5D3-E6B57D9FC83B}"/>
              </a:ext>
            </a:extLst>
          </p:cNvPr>
          <p:cNvSpPr>
            <a:spLocks noGrp="1"/>
          </p:cNvSpPr>
          <p:nvPr/>
        </p:nvSpPr>
        <p:spPr>
          <a:xfrm>
            <a:off x="457200" y="2011680"/>
            <a:ext cx="7040880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344B18-6F71-405E-A7BA-9853DCE5E7A8}"/>
              </a:ext>
            </a:extLst>
          </p:cNvPr>
          <p:cNvSpPr>
            <a:spLocks noGrp="1"/>
          </p:cNvSpPr>
          <p:nvPr/>
        </p:nvSpPr>
        <p:spPr>
          <a:xfrm>
            <a:off x="594360" y="2075688"/>
            <a:ext cx="6766560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Solver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795192-81D6-477B-A2EE-DEDE077C3803}"/>
              </a:ext>
            </a:extLst>
          </p:cNvPr>
          <p:cNvSpPr>
            <a:spLocks noGrp="1"/>
          </p:cNvSpPr>
          <p:nvPr/>
        </p:nvSpPr>
        <p:spPr>
          <a:xfrm>
            <a:off x="640080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C32F59-D803-4F8A-A51B-396FC2B13966}"/>
              </a:ext>
            </a:extLst>
          </p:cNvPr>
          <p:cNvSpPr>
            <a:spLocks noGrp="1"/>
          </p:cNvSpPr>
          <p:nvPr/>
        </p:nvSpPr>
        <p:spPr>
          <a:xfrm>
            <a:off x="640080" y="2514600"/>
            <a:ext cx="6675120" cy="23774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400"/>
              </a:spcAft>
              <a:buNone/>
            </a:pPr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777FA7A-3956-4BAD-A9B4-E20E57AE1564}"/>
              </a:ext>
            </a:extLst>
          </p:cNvPr>
          <p:cNvSpPr>
            <a:spLocks noGrp="1"/>
          </p:cNvSpPr>
          <p:nvPr/>
        </p:nvSpPr>
        <p:spPr>
          <a:xfrm>
            <a:off x="7607808" y="2011680"/>
            <a:ext cx="4123944" cy="42976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8A781C-DF85-4578-9D04-C246FF34DC0E}"/>
              </a:ext>
            </a:extLst>
          </p:cNvPr>
          <p:cNvSpPr>
            <a:spLocks noGrp="1"/>
          </p:cNvSpPr>
          <p:nvPr/>
        </p:nvSpPr>
        <p:spPr>
          <a:xfrm>
            <a:off x="7744968" y="2075688"/>
            <a:ext cx="3849624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Assumptions and choices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52E3D0-12F5-49DD-8B99-1ED7EE1D783E}"/>
              </a:ext>
            </a:extLst>
          </p:cNvPr>
          <p:cNvSpPr>
            <a:spLocks noGrp="1"/>
          </p:cNvSpPr>
          <p:nvPr/>
        </p:nvSpPr>
        <p:spPr>
          <a:xfrm>
            <a:off x="7790688" y="242316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2220CA-E265-46B7-A0F7-53E887C31E30}"/>
              </a:ext>
            </a:extLst>
          </p:cNvPr>
          <p:cNvSpPr>
            <a:spLocks noGrp="1"/>
          </p:cNvSpPr>
          <p:nvPr/>
        </p:nvSpPr>
        <p:spPr>
          <a:xfrm>
            <a:off x="7772400" y="2514600"/>
            <a:ext cx="3794760" cy="213441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Place one device per eligible room, at least 0.5 m from nearby walls and windows.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Use real door connections. Each hub covers ≤5 devices and ≤100 m².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Complete every ring at its starting panel. Route only horizontal and vertical cable.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Treat walls and windows as blocked. Use excluded rooms only if strict routing has no path.</a:t>
            </a:r>
          </a:p>
          <a:p>
            <a:pPr algn="l">
              <a:lnSpc>
                <a:spcPct val="108000"/>
              </a:lnSpc>
              <a:spcAft>
                <a:spcPts val="400"/>
              </a:spcAft>
              <a:buNone/>
              <a:defRPr sz="114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40">
                <a:solidFill>
                  <a:srgbClr val="334E68"/>
                </a:solidFill>
                <a:latin typeface="Aptos"/>
                <a:ea typeface="Aptos"/>
                <a:cs typeface="Aptos"/>
              </a:rPr>
              <a:t>• Ignore room components below 2 m². Use ResPlan.pkl for plan IDs and evaluation.</a:t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E566A3F-730B-4181-9A31-DCB9049DD50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8FA4B5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ResPlan ID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Geometry + devices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F00F310-4629-486F-ABEB-C8E11AD80FB4}"/>
              </a:ext>
            </a:extLst>
          </p:cNvPr>
          <p:cNvSpPr>
            <a:spLocks noGrp="1"/>
          </p:cNvSpPr>
          <p:nvPr/>
        </p:nvSpPr>
        <p:spPr>
          <a:xfrm>
            <a:off x="2333625" y="2724150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8FA4B5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Door graph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True connectivity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F2F1984-09D9-4337-9FB7-08E04B443919}"/>
              </a:ext>
            </a:extLst>
          </p:cNvPr>
          <p:cNvSpPr>
            <a:spLocks noGrp="1"/>
          </p:cNvSpPr>
          <p:nvPr/>
        </p:nvSpPr>
        <p:spPr>
          <a:xfrm>
            <a:off x="3981450" y="2724150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8FA4B5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Feasible zones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≤5 nodes, ≤100 m²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EAB1C07-DEBA-438C-8DBE-30680AF04A6D}"/>
              </a:ext>
            </a:extLst>
          </p:cNvPr>
          <p:cNvSpPr>
            <a:spLocks noGrp="1"/>
          </p:cNvSpPr>
          <p:nvPr/>
        </p:nvSpPr>
        <p:spPr>
          <a:xfrm>
            <a:off x="5629275" y="2724150"/>
            <a:ext cx="1381125" cy="638175"/>
          </a:xfrm>
          <a:prstGeom prst="roundRect">
            <a:avLst>
              <a:gd name="adj" fmla="val 11940"/>
            </a:avLst>
          </a:prstGeom>
          <a:solidFill>
            <a:srgbClr val="FFFFFF"/>
          </a:solidFill>
          <a:ln w="11430">
            <a:solidFill>
              <a:srgbClr val="8FA4B5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Ring candidates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A* paths + Held-Karp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434431B9-4670-497D-8A83-DCB6D7232DA5}"/>
              </a:ext>
            </a:extLst>
          </p:cNvPr>
          <p:cNvSpPr>
            <a:spLocks noGrp="1"/>
          </p:cNvSpPr>
          <p:nvPr/>
        </p:nvSpPr>
        <p:spPr>
          <a:xfrm>
            <a:off x="2085975" y="2952750"/>
            <a:ext cx="209550" cy="171450"/>
          </a:xfrm>
          <a:prstGeom prst="rightArrow">
            <a:avLst/>
          </a:prstGeom>
          <a:solidFill>
            <a:srgbClr val="C8102E"/>
          </a:solidFill>
          <a:ln w="4763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54DFE16A-54E3-4C3D-AE7C-35FB3D3A405D}"/>
              </a:ext>
            </a:extLst>
          </p:cNvPr>
          <p:cNvSpPr>
            <a:spLocks noGrp="1"/>
          </p:cNvSpPr>
          <p:nvPr/>
        </p:nvSpPr>
        <p:spPr>
          <a:xfrm>
            <a:off x="3733800" y="2952750"/>
            <a:ext cx="209550" cy="171450"/>
          </a:xfrm>
          <a:prstGeom prst="rightArrow">
            <a:avLst/>
          </a:prstGeom>
          <a:solidFill>
            <a:srgbClr val="C8102E"/>
          </a:solidFill>
          <a:ln w="4763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8A515DAD-FE8D-4A35-B73B-F29965695857}"/>
              </a:ext>
            </a:extLst>
          </p:cNvPr>
          <p:cNvSpPr>
            <a:spLocks noGrp="1"/>
          </p:cNvSpPr>
          <p:nvPr/>
        </p:nvSpPr>
        <p:spPr>
          <a:xfrm>
            <a:off x="5381625" y="2952750"/>
            <a:ext cx="209550" cy="171450"/>
          </a:xfrm>
          <a:prstGeom prst="rightArrow">
            <a:avLst/>
          </a:prstGeom>
          <a:solidFill>
            <a:srgbClr val="C8102E"/>
          </a:solidFill>
          <a:ln w="4763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203CF8A-F201-46D1-923A-E0A996BA970B}"/>
              </a:ext>
            </a:extLst>
          </p:cNvPr>
          <p:cNvSpPr>
            <a:spLocks noGrp="1"/>
          </p:cNvSpPr>
          <p:nvPr/>
        </p:nvSpPr>
        <p:spPr>
          <a:xfrm>
            <a:off x="1447800" y="3914775"/>
            <a:ext cx="1571625" cy="638175"/>
          </a:xfrm>
          <a:prstGeom prst="roundRect">
            <a:avLst>
              <a:gd name="adj" fmla="val 11940"/>
            </a:avLst>
          </a:prstGeom>
          <a:solidFill>
            <a:srgbClr val="EAF2F8"/>
          </a:solidFill>
          <a:ln w="11430">
            <a:solidFill>
              <a:srgbClr val="2E86C1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Global CP-SAT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Select the best rings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4BF6269-A39A-463A-9A1B-EFCEC88D95BC}"/>
              </a:ext>
            </a:extLst>
          </p:cNvPr>
          <p:cNvSpPr>
            <a:spLocks noGrp="1"/>
          </p:cNvSpPr>
          <p:nvPr/>
        </p:nvSpPr>
        <p:spPr>
          <a:xfrm>
            <a:off x="3476625" y="3914775"/>
            <a:ext cx="1571625" cy="638175"/>
          </a:xfrm>
          <a:prstGeom prst="roundRect">
            <a:avLst>
              <a:gd name="adj" fmla="val 11940"/>
            </a:avLst>
          </a:prstGeom>
          <a:solidFill>
            <a:srgbClr val="FDEDEC"/>
          </a:solidFill>
          <a:ln w="11430">
            <a:solidFill>
              <a:srgbClr val="C8102E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ALNS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Improve J by repair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8DAA4B4-E260-42AA-9EDE-7C63696E7AB8}"/>
              </a:ext>
            </a:extLst>
          </p:cNvPr>
          <p:cNvSpPr>
            <a:spLocks noGrp="1"/>
          </p:cNvSpPr>
          <p:nvPr/>
        </p:nvSpPr>
        <p:spPr>
          <a:xfrm>
            <a:off x="5505450" y="3914775"/>
            <a:ext cx="1619250" cy="638175"/>
          </a:xfrm>
          <a:prstGeom prst="roundRect">
            <a:avLst>
              <a:gd name="adj" fmla="val 11940"/>
            </a:avLst>
          </a:prstGeom>
          <a:solidFill>
            <a:srgbClr val="E8F5E9"/>
          </a:solidFill>
          <a:ln w="11430">
            <a:solidFill>
              <a:srgbClr val="2E7D32"/>
            </a:solidFill>
            <a:prstDash val="solid"/>
          </a:ln>
        </p:spPr>
        <p:txBody>
          <a:bodyPr anchor="ctr"/>
          <a:lstStyle>
            <a:def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Checker + output</a:t>
            </a:r>
          </a:p>
          <a:p>
            <a:pPr algn="ctr">
              <a:defRPr sz="1013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Validate, export, view</a:t>
            </a:r>
          </a:p>
        </p:txBody>
      </p:sp>
      <p:sp>
        <p:nvSpPr>
          <p:cNvPr id="27" name="Right Arrow 26">
            <a:extLst>
              <a:ext uri="{FF2B5EF4-FFF2-40B4-BE49-F238E27FC236}">
                <a16:creationId xmlns:a16="http://schemas.microsoft.com/office/drawing/2014/main" id="{6BA6F1AF-027E-4C5E-BFE5-F11A014BFAFF}"/>
              </a:ext>
            </a:extLst>
          </p:cNvPr>
          <p:cNvSpPr>
            <a:spLocks noGrp="1"/>
          </p:cNvSpPr>
          <p:nvPr/>
        </p:nvSpPr>
        <p:spPr>
          <a:xfrm>
            <a:off x="3095625" y="4143375"/>
            <a:ext cx="266700" cy="171450"/>
          </a:xfrm>
          <a:prstGeom prst="rightArrow">
            <a:avLst/>
          </a:prstGeom>
          <a:solidFill>
            <a:srgbClr val="C8102E"/>
          </a:solidFill>
          <a:ln w="4763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F29E8E75-BA1B-4F89-B72F-8F4B63DEA2EA}"/>
              </a:ext>
            </a:extLst>
          </p:cNvPr>
          <p:cNvSpPr>
            <a:spLocks noGrp="1"/>
          </p:cNvSpPr>
          <p:nvPr/>
        </p:nvSpPr>
        <p:spPr>
          <a:xfrm>
            <a:off x="5124450" y="4143375"/>
            <a:ext cx="266700" cy="171450"/>
          </a:xfrm>
          <a:prstGeom prst="rightArrow">
            <a:avLst/>
          </a:prstGeom>
          <a:solidFill>
            <a:srgbClr val="C8102E"/>
          </a:solidFill>
          <a:ln w="4763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E70B99A-F3D1-4C13-8B23-3C1213535190}"/>
              </a:ext>
            </a:extLst>
          </p:cNvPr>
          <p:cNvSpPr>
            <a:spLocks noGrp="1"/>
          </p:cNvSpPr>
          <p:nvPr/>
        </p:nvSpPr>
        <p:spPr>
          <a:xfrm>
            <a:off x="838200" y="4933950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238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238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Lexicographic objective:  min H   then   J = L + 5X + O + 0.5B   then   ΔA gap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8095DC-3C36-4CCF-A451-D830C045632F}"/>
              </a:ext>
            </a:extLst>
          </p:cNvPr>
          <p:cNvSpPr>
            <a:spLocks noGrp="1"/>
          </p:cNvSpPr>
          <p:nvPr/>
        </p:nvSpPr>
        <p:spPr>
          <a:xfrm>
            <a:off x="904875" y="5295900"/>
            <a:ext cx="6057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065">
                <a:solidFill>
                  <a:srgbClr val="5B6770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065">
                <a:solidFill>
                  <a:srgbClr val="5B6770"/>
                </a:solidFill>
                <a:latin typeface="Aptos"/>
                <a:ea typeface="Aptos"/>
                <a:cs typeface="Aptos"/>
              </a:defRPr>
            </a:pPr>
            <a:r>
              <a:rPr sz="1065">
                <a:solidFill>
                  <a:srgbClr val="5B6770"/>
                </a:solidFill>
                <a:latin typeface="Aptos"/>
                <a:ea typeface="Aptos"/>
                <a:cs typeface="Aptos"/>
              </a:rPr>
              <a:t>CP-SAT certifies H when it finishes; cable cost is the best found within the candidate pool and time.</a:t>
            </a:r>
          </a:p>
        </p:txBody>
      </p:sp>
    </p:spTree>
    <p:extLst>
      <p:ext uri="{BB962C8B-B14F-4D97-AF65-F5344CB8AC3E}">
        <p14:creationId xmlns:p14="http://schemas.microsoft.com/office/powerpoint/2010/main" val="2023485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2A30-8EB0-417A-A584-335E2EB77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Algorithm mechanics and validation case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C6A706-2845-4190-A972-EE28CDCF40EB}"/>
              </a:ext>
            </a:extLst>
          </p:cNvPr>
          <p:cNvSpPr>
            <a:spLocks noGrp="1"/>
          </p:cNvSpPr>
          <p:nvPr/>
        </p:nvSpPr>
        <p:spPr>
          <a:xfrm>
            <a:off x="448056" y="822960"/>
            <a:ext cx="1127455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A complete ring must be selected globally because individually short paths can cross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2DB03-6719-47B5-8576-AA4C60ECBE45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E416BE-ACA2-4463-8CA1-6066A5FDDC40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5486400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79B1FF-E2C4-4F6F-BD32-EA4F5B9A2BA0}"/>
              </a:ext>
            </a:extLst>
          </p:cNvPr>
          <p:cNvSpPr>
            <a:spLocks noGrp="1"/>
          </p:cNvSpPr>
          <p:nvPr/>
        </p:nvSpPr>
        <p:spPr>
          <a:xfrm>
            <a:off x="6035040" y="6492240"/>
            <a:ext cx="5696712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  Team: </a:t>
            </a:r>
            <a:r>
              <a:rPr lang="en-US" sz="1000" dirty="0">
                <a:solidFill>
                  <a:srgbClr val="5B6770"/>
                </a:solidFill>
              </a:rPr>
              <a:t>Bro Code</a:t>
            </a:r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 |  2 /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F43FAE-1689-487F-9361-47023FF65232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52565-148B-4005-A264-CB3B66EB413D}"/>
              </a:ext>
            </a:extLst>
          </p:cNvPr>
          <p:cNvSpPr>
            <a:spLocks noGrp="1"/>
          </p:cNvSpPr>
          <p:nvPr/>
        </p:nvSpPr>
        <p:spPr>
          <a:xfrm>
            <a:off x="548640" y="1463040"/>
            <a:ext cx="3429000" cy="2377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A6355-23FE-484C-92E2-C5B6403D8ECC}"/>
              </a:ext>
            </a:extLst>
          </p:cNvPr>
          <p:cNvSpPr>
            <a:spLocks noGrp="1"/>
          </p:cNvSpPr>
          <p:nvPr/>
        </p:nvSpPr>
        <p:spPr>
          <a:xfrm>
            <a:off x="457200" y="5422392"/>
            <a:ext cx="3611880" cy="2301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Working geometry and checker prototype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BA1844-EC54-403A-9969-07DA4B49202C}"/>
              </a:ext>
            </a:extLst>
          </p:cNvPr>
          <p:cNvSpPr>
            <a:spLocks noGrp="1"/>
          </p:cNvSpPr>
          <p:nvPr/>
        </p:nvSpPr>
        <p:spPr>
          <a:xfrm>
            <a:off x="4160520" y="1463040"/>
            <a:ext cx="361188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5B6770"/>
            </a:solidFill>
            <a:prstDash val="dash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1E2D8C-0BD1-4E83-8AE8-418D3F264FD0}"/>
              </a:ext>
            </a:extLst>
          </p:cNvPr>
          <p:cNvSpPr>
            <a:spLocks noGrp="1"/>
          </p:cNvSpPr>
          <p:nvPr/>
        </p:nvSpPr>
        <p:spPr>
          <a:xfrm>
            <a:off x="4251959" y="1463040"/>
            <a:ext cx="3429000" cy="23774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C08C29-0799-41F6-8A6E-5D2A8BE0CE91}"/>
              </a:ext>
            </a:extLst>
          </p:cNvPr>
          <p:cNvSpPr>
            <a:spLocks noGrp="1"/>
          </p:cNvSpPr>
          <p:nvPr/>
        </p:nvSpPr>
        <p:spPr>
          <a:xfrm>
            <a:off x="4160520" y="5422392"/>
            <a:ext cx="3611880" cy="2301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5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Why joint route selection matters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ABC4F8-48EA-4A25-94AE-2DA64277A236}"/>
              </a:ext>
            </a:extLst>
          </p:cNvPr>
          <p:cNvSpPr>
            <a:spLocks noGrp="1"/>
          </p:cNvSpPr>
          <p:nvPr/>
        </p:nvSpPr>
        <p:spPr>
          <a:xfrm>
            <a:off x="7909560" y="1463040"/>
            <a:ext cx="3822191" cy="484632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D09918-D411-4B07-880A-AB86CFB24F5C}"/>
              </a:ext>
            </a:extLst>
          </p:cNvPr>
          <p:cNvSpPr>
            <a:spLocks noGrp="1"/>
          </p:cNvSpPr>
          <p:nvPr/>
        </p:nvSpPr>
        <p:spPr>
          <a:xfrm>
            <a:off x="8046720" y="1527048"/>
            <a:ext cx="354787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The optimization model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983A356-F12D-4592-823A-1BB2516DE137}"/>
              </a:ext>
            </a:extLst>
          </p:cNvPr>
          <p:cNvSpPr>
            <a:spLocks noGrp="1"/>
          </p:cNvSpPr>
          <p:nvPr/>
        </p:nvSpPr>
        <p:spPr>
          <a:xfrm>
            <a:off x="809244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99AC71-9693-4A89-AA2B-DD0729373971}"/>
              </a:ext>
            </a:extLst>
          </p:cNvPr>
          <p:cNvSpPr>
            <a:spLocks noGrp="1"/>
          </p:cNvSpPr>
          <p:nvPr/>
        </p:nvSpPr>
        <p:spPr>
          <a:xfrm>
            <a:off x="8065008" y="1965960"/>
            <a:ext cx="3520440" cy="306823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1  Prove the smallest hub count</a:t>
            </a: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Enumerate door-connected zones and solve an exact room cover with CP-SAT.</a:t>
            </a:r>
          </a:p>
          <a:p>
            <a:pPr algn="l">
              <a:spcAft>
                <a:spcPts val="300"/>
              </a:spcAft>
              <a:buNone/>
            </a:pP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2  Generate complete alternatives</a:t>
            </a: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Direction-aware A* supplies several legal paths. Held-Karp solves each ≤5-device visit order.</a:t>
            </a:r>
          </a:p>
          <a:p>
            <a:pPr algn="l">
              <a:spcAft>
                <a:spcPts val="300"/>
              </a:spcAft>
              <a:buNone/>
            </a:pP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3  Price routes together</a:t>
            </a: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Choose one ring per covered zone. Include crossing and overlap costs between rings.</a:t>
            </a:r>
          </a:p>
          <a:p>
            <a:pPr algn="l">
              <a:spcAft>
                <a:spcPts val="300"/>
              </a:spcAft>
              <a:buNone/>
            </a:pPr>
            <a:endParaRPr sz="1110" b="0" i="0">
              <a:solidFill>
                <a:srgbClr val="334E68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4  Improve under a deadline</a:t>
            </a:r>
          </a:p>
          <a:p>
            <a:pPr algn="l">
              <a:lnSpc>
                <a:spcPct val="104000"/>
              </a:lnSpc>
              <a:spcAft>
                <a:spcPts val="300"/>
              </a:spcAft>
              <a:buNone/>
              <a:defRPr sz="1110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ALNS moves a room, hub, device or path, then retains the best checked result.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81E4FEE-4529-4A41-A42B-DB2664186BF8}"/>
              </a:ext>
            </a:extLst>
          </p:cNvPr>
          <p:cNvSpPr>
            <a:spLocks noGrp="1"/>
          </p:cNvSpPr>
          <p:nvPr/>
        </p:nvSpPr>
        <p:spPr>
          <a:xfrm>
            <a:off x="8086725" y="5219700"/>
            <a:ext cx="3457575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06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defRPr sz="106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For each room i:  Σ(r contains i) xᵣ = 1</a:t>
            </a:r>
          </a:p>
          <a:p>
            <a:pPr algn="l">
              <a:defRPr sz="106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06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Hub lower bound:  Σc max(⌈Ac/100⌉, ⌈Nc/5⌉)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D7E8E5E-B8ED-4470-BA43-3D60033D9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2450" y="1718518"/>
            <a:ext cx="3419475" cy="203031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E24EDF9-6EA1-4877-B3F5-93AF4FEA05CC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 1     L 18.40 m     B 8     X 0     O 0</a:t>
            </a:r>
          </a:p>
          <a:p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J 22.40     6 of 6 hard rules pass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22FCCB0-5D98-49A8-B00F-29CC860BF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248531" y="1818083"/>
            <a:ext cx="3419475" cy="18311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4FED97E-A493-4A51-B122-4E7E8606F495}"/>
              </a:ext>
            </a:extLst>
          </p:cNvPr>
          <p:cNvSpPr>
            <a:spLocks noGrp="1"/>
          </p:cNvSpPr>
          <p:nvPr/>
        </p:nvSpPr>
        <p:spPr>
          <a:xfrm>
            <a:off x="4391025" y="4000500"/>
            <a:ext cx="3143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defPPr>
          </a:lstStyle>
          <a:p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Current: H 2, J 26.57</a:t>
            </a:r>
          </a:p>
          <a:p>
            <a:pPr algn="ctr">
              <a:defRPr sz="11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Checked alternative: H 2, J 15.975</a:t>
            </a:r>
          </a:p>
        </p:txBody>
      </p:sp>
    </p:spTree>
    <p:extLst>
      <p:ext uri="{BB962C8B-B14F-4D97-AF65-F5344CB8AC3E}">
        <p14:creationId xmlns:p14="http://schemas.microsoft.com/office/powerpoint/2010/main" val="191378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DD2C-FF5E-461E-9DB1-9FE88D38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6032"/>
            <a:ext cx="11274552" cy="566928"/>
          </a:xfrm>
        </p:spPr>
        <p:txBody>
          <a:bodyPr wrap="square" lIns="45720" anchor="ctr"/>
          <a:lstStyle/>
          <a:p>
            <a:pPr algn="l">
              <a:buNone/>
            </a:pPr>
            <a:r>
              <a:rPr sz="2800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Implementation and evaluation plan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728A3-D337-4FA1-9BDE-BA18056D2BBD}"/>
              </a:ext>
            </a:extLst>
          </p:cNvPr>
          <p:cNvSpPr>
            <a:spLocks noGrp="1"/>
          </p:cNvSpPr>
          <p:nvPr/>
        </p:nvSpPr>
        <p:spPr>
          <a:xfrm>
            <a:off x="457200" y="822960"/>
            <a:ext cx="1127455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The solver is judged against a greedy baseline on valid plans from ResPlan.pkl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AE67DA-6F39-4802-8A59-E512C7185BB9}"/>
              </a:ext>
            </a:extLst>
          </p:cNvPr>
          <p:cNvSpPr>
            <a:spLocks noGrp="1"/>
          </p:cNvSpPr>
          <p:nvPr/>
        </p:nvSpPr>
        <p:spPr>
          <a:xfrm>
            <a:off x="502920" y="1243584"/>
            <a:ext cx="109728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B559FF-CA34-46F2-ACBD-A82F2632CF71}"/>
              </a:ext>
            </a:extLst>
          </p:cNvPr>
          <p:cNvSpPr>
            <a:spLocks noGrp="1"/>
          </p:cNvSpPr>
          <p:nvPr/>
        </p:nvSpPr>
        <p:spPr>
          <a:xfrm>
            <a:off x="457200" y="6492240"/>
            <a:ext cx="5486400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000" b="0" i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• 16 October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85DA2F-4BB7-4037-B924-D36A5A4E79B9}"/>
              </a:ext>
            </a:extLst>
          </p:cNvPr>
          <p:cNvSpPr>
            <a:spLocks noGrp="1"/>
          </p:cNvSpPr>
          <p:nvPr/>
        </p:nvSpPr>
        <p:spPr>
          <a:xfrm>
            <a:off x="6035040" y="6492240"/>
            <a:ext cx="5696712" cy="2072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Intermediate update  |  Team: </a:t>
            </a:r>
            <a:r>
              <a:rPr lang="en-US" sz="1000" dirty="0">
                <a:solidFill>
                  <a:srgbClr val="5B6770"/>
                </a:solidFill>
              </a:rPr>
              <a:t>Bro Code</a:t>
            </a:r>
            <a:r>
              <a:rPr sz="1000" b="0" i="0" dirty="0">
                <a:solidFill>
                  <a:srgbClr val="5B6770"/>
                </a:solidFill>
                <a:latin typeface="Aptos"/>
                <a:ea typeface="Aptos"/>
                <a:cs typeface="Aptos"/>
              </a:rPr>
              <a:t>  |  3 / 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DC12AB1-B168-4B49-8799-71374304E8A3}"/>
              </a:ext>
            </a:extLst>
          </p:cNvPr>
          <p:cNvSpPr>
            <a:spLocks noGrp="1"/>
          </p:cNvSpPr>
          <p:nvPr/>
        </p:nvSpPr>
        <p:spPr>
          <a:xfrm>
            <a:off x="457200" y="1463040"/>
            <a:ext cx="555955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F7426-4A6B-44FC-BBE3-F0250429316E}"/>
              </a:ext>
            </a:extLst>
          </p:cNvPr>
          <p:cNvSpPr>
            <a:spLocks noGrp="1"/>
          </p:cNvSpPr>
          <p:nvPr/>
        </p:nvSpPr>
        <p:spPr>
          <a:xfrm>
            <a:off x="594360" y="1527048"/>
            <a:ext cx="528523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Engineering tasks and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9F42FB-45F0-4B99-9732-B5AC1927E0E6}"/>
              </a:ext>
            </a:extLst>
          </p:cNvPr>
          <p:cNvSpPr>
            <a:spLocks noGrp="1"/>
          </p:cNvSpPr>
          <p:nvPr/>
        </p:nvSpPr>
        <p:spPr>
          <a:xfrm>
            <a:off x="64008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E2DEF-8DF1-4688-8BC0-12C47B0F4B00}"/>
              </a:ext>
            </a:extLst>
          </p:cNvPr>
          <p:cNvSpPr>
            <a:spLocks noGrp="1"/>
          </p:cNvSpPr>
          <p:nvPr/>
        </p:nvSpPr>
        <p:spPr>
          <a:xfrm>
            <a:off x="640080" y="1965960"/>
            <a:ext cx="5212080" cy="305763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1. Plan ID and device placement</a:t>
            </a: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Index ResPlan.pkl once. Generate legal device candidates after metric conversion.</a:t>
            </a:r>
          </a:p>
          <a:p>
            <a:pPr algn="l">
              <a:spcAft>
                <a:spcPts val="400"/>
              </a:spcAft>
              <a:buNone/>
            </a:pP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2. Candidate pool quality</a:t>
            </a: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Vary placements, orders and paths so global CP-SAT can find lower-crossing rings.</a:t>
            </a:r>
          </a:p>
          <a:p>
            <a:pPr algn="l">
              <a:spcAft>
                <a:spcPts val="400"/>
              </a:spcAft>
              <a:buNone/>
            </a:pPr>
            <a:endParaRPr sz="1133" b="0" i="0">
              <a:solidFill>
                <a:srgbClr val="334E68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3. Runtime and proof status</a:t>
            </a: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Cache geometry and routes. Report exact hub proof and a bounded cable-cost gap.</a:t>
            </a:r>
          </a:p>
          <a:p>
            <a:pPr algn="l">
              <a:spcAft>
                <a:spcPts val="400"/>
              </a:spcAft>
              <a:buNone/>
            </a:pPr>
            <a:endParaRPr sz="1133" b="0" i="0">
              <a:solidFill>
                <a:srgbClr val="334E68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4. Held-out evaluation</a:t>
            </a:r>
          </a:p>
          <a:p>
            <a:pPr algn="l">
              <a:lnSpc>
                <a:spcPct val="103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Measure validity, J and latency against the required greedy baseline.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DB5FB9F-5B09-4D63-A2F2-99E9DD13F46B}"/>
              </a:ext>
            </a:extLst>
          </p:cNvPr>
          <p:cNvSpPr>
            <a:spLocks noGrp="1"/>
          </p:cNvSpPr>
          <p:nvPr/>
        </p:nvSpPr>
        <p:spPr>
          <a:xfrm>
            <a:off x="6126480" y="1463040"/>
            <a:ext cx="5605272" cy="361188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BF81C-DED1-4BCF-BDF1-DDCDDC5AFBD3}"/>
              </a:ext>
            </a:extLst>
          </p:cNvPr>
          <p:cNvSpPr>
            <a:spLocks noGrp="1"/>
          </p:cNvSpPr>
          <p:nvPr/>
        </p:nvSpPr>
        <p:spPr>
          <a:xfrm>
            <a:off x="6263640" y="1527048"/>
            <a:ext cx="533095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Why this algorithm fits the challenge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D96C85-EE35-4B39-A79A-593B5054C383}"/>
              </a:ext>
            </a:extLst>
          </p:cNvPr>
          <p:cNvSpPr>
            <a:spLocks noGrp="1"/>
          </p:cNvSpPr>
          <p:nvPr/>
        </p:nvSpPr>
        <p:spPr>
          <a:xfrm>
            <a:off x="6309360" y="18745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6A6E22-C16D-46AB-9B7C-E4BE6725D345}"/>
              </a:ext>
            </a:extLst>
          </p:cNvPr>
          <p:cNvSpPr>
            <a:spLocks noGrp="1"/>
          </p:cNvSpPr>
          <p:nvPr/>
        </p:nvSpPr>
        <p:spPr>
          <a:xfrm>
            <a:off x="6309360" y="1965960"/>
            <a:ext cx="5257800" cy="21449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Small rings permit exact ordering: at most five devices per hub keeps Held-Karp cheap.</a:t>
            </a:r>
          </a:p>
          <a:p>
            <a:pPr algn="l">
              <a:spcAft>
                <a:spcPts val="400"/>
              </a:spcAft>
              <a:buNone/>
            </a:pP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Graph search handles the geometry: direction state prices bends while walls and doors constrain every path.</a:t>
            </a:r>
          </a:p>
          <a:p>
            <a:pPr algn="l">
              <a:spcAft>
                <a:spcPts val="400"/>
              </a:spcAft>
              <a:buNone/>
            </a:pPr>
            <a:endParaRPr sz="1133" b="0" i="0">
              <a:solidFill>
                <a:srgbClr val="334E68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CP-SAT handles global choices: room coverage, hub count and cross-ring conflicts share one model.</a:t>
            </a:r>
          </a:p>
          <a:p>
            <a:pPr algn="l">
              <a:spcAft>
                <a:spcPts val="400"/>
              </a:spcAft>
              <a:buNone/>
            </a:pP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  <a:p>
            <a:pPr algn="l">
              <a:lnSpc>
                <a:spcPct val="104000"/>
              </a:lnSpc>
              <a:spcAft>
                <a:spcPts val="400"/>
              </a:spcAft>
              <a:buNone/>
              <a:defRPr sz="1133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33">
                <a:solidFill>
                  <a:srgbClr val="334E68"/>
                </a:solidFill>
                <a:latin typeface="Aptos"/>
                <a:ea typeface="Aptos"/>
                <a:cs typeface="Aptos"/>
              </a:rPr>
              <a:t>ALNS makes search anytime: the best valid incumbent survives every time limit.</a:t>
            </a:r>
            <a:endParaRPr sz="1200" b="0" i="0">
              <a:solidFill>
                <a:srgbClr val="7B879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D8E0AC3-2095-49CE-A334-84F06F45EDE5}"/>
              </a:ext>
            </a:extLst>
          </p:cNvPr>
          <p:cNvSpPr>
            <a:spLocks noGrp="1"/>
          </p:cNvSpPr>
          <p:nvPr/>
        </p:nvSpPr>
        <p:spPr>
          <a:xfrm>
            <a:off x="457200" y="5184648"/>
            <a:ext cx="11274552" cy="1143000"/>
          </a:xfrm>
          <a:prstGeom prst="roundRect">
            <a:avLst>
              <a:gd name="adj" fmla="val 2000"/>
            </a:avLst>
          </a:prstGeom>
          <a:solidFill>
            <a:srgbClr val="F3F5F7"/>
          </a:solidFill>
          <a:ln w="9525">
            <a:solidFill>
              <a:srgbClr val="CBD2D9"/>
            </a:solidFill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154C3E-9050-4F91-BB82-E5C7D2193301}"/>
              </a:ext>
            </a:extLst>
          </p:cNvPr>
          <p:cNvSpPr>
            <a:spLocks noGrp="1"/>
          </p:cNvSpPr>
          <p:nvPr/>
        </p:nvSpPr>
        <p:spPr>
          <a:xfrm>
            <a:off x="594360" y="5248656"/>
            <a:ext cx="11000232" cy="268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1" i="0">
                <a:solidFill>
                  <a:srgbClr val="1F2933"/>
                </a:solidFill>
                <a:latin typeface="Aptos"/>
                <a:ea typeface="Aptos"/>
                <a:cs typeface="Aptos"/>
              </a:rPr>
              <a:t>Next steps and help needed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2376AE-3CA6-44C7-87B0-8E658155BFB4}"/>
              </a:ext>
            </a:extLst>
          </p:cNvPr>
          <p:cNvSpPr>
            <a:spLocks noGrp="1"/>
          </p:cNvSpPr>
          <p:nvPr/>
        </p:nvSpPr>
        <p:spPr>
          <a:xfrm>
            <a:off x="640080" y="5596128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6C3747-ADE9-479F-A934-7BC338604BB1}"/>
              </a:ext>
            </a:extLst>
          </p:cNvPr>
          <p:cNvSpPr>
            <a:spLocks noGrp="1"/>
          </p:cNvSpPr>
          <p:nvPr/>
        </p:nvSpPr>
        <p:spPr>
          <a:xfrm>
            <a:off x="640080" y="5623560"/>
            <a:ext cx="10881360" cy="4323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>
            <a:defPPr algn="l"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defPPr>
          </a:lstStyle>
          <a:p>
            <a:pPr algn="l">
              <a:spcAft>
                <a:spcPts val="200"/>
              </a:spcAft>
              <a:buNone/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5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Load a Plan ID  •  build a greedy baseline  •  prove minimum H  •  generate K routes and complete rings  •  select globally  •  improve with ALNS</a:t>
            </a:r>
          </a:p>
          <a:p>
            <a:pPr algn="l">
              <a:spcAft>
                <a:spcPts val="200"/>
              </a:spcAft>
              <a:buNone/>
              <a:defRPr sz="1155">
                <a:solidFill>
                  <a:srgbClr val="334E68"/>
                </a:solidFill>
                <a:latin typeface="Aptos"/>
                <a:ea typeface="Aptos"/>
                <a:cs typeface="Aptos"/>
              </a:defRPr>
            </a:pPr>
            <a:r>
              <a:rPr sz="1155" b="0" i="0">
                <a:solidFill>
                  <a:srgbClr val="334E68"/>
                </a:solidFill>
                <a:latin typeface="Aptos"/>
                <a:ea typeface="Aptos"/>
                <a:cs typeface="Aptos"/>
              </a:rPr>
              <a:t>Request to organisers: final input schema and automated checker, if available.</a:t>
            </a:r>
          </a:p>
        </p:txBody>
      </p:sp>
    </p:spTree>
    <p:extLst>
      <p:ext uri="{BB962C8B-B14F-4D97-AF65-F5344CB8AC3E}">
        <p14:creationId xmlns:p14="http://schemas.microsoft.com/office/powerpoint/2010/main" val="776513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Microsoft Macintosh PowerPoint</Application>
  <DocSecurity>0</DocSecurity>
  <PresentationFormat>Widescreen</PresentationFormat>
  <Paragraphs>91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Cable ring routing: our optimization algorithm</vt:lpstr>
      <vt:lpstr>Algorithm mechanics and validation case</vt:lpstr>
      <vt:lpstr>Implementation and evaluation plan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JAHNAVI SRI SAI AKVETI - 245811110 - MITBLR</cp:lastModifiedBy>
  <cp:revision>3</cp:revision>
  <dcterms:created xsi:type="dcterms:W3CDTF">2026-10-16T08:18:46Z</dcterms:created>
  <dcterms:modified xsi:type="dcterms:W3CDTF">2026-10-16T08:22:40Z</dcterms:modified>
</cp:coreProperties>
</file>