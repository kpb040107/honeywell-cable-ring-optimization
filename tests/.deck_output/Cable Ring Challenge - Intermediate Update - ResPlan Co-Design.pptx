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757248801404899" /><Relationship Type="http://schemas.openxmlformats.org/officeDocument/2006/relationships/extended-properties" Target="/docProps/app.xml" Id="R03ebbd35e7b64310" /><Relationship Type="http://schemas.openxmlformats.org/officeDocument/2006/relationships/officeDocument" Target="/ppt/presentation.xml" Id="Rbed3acc713b24a2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ada7c34113b47e2"/>
  </p:sldMasterIdLst>
  <p:notesMasterIdLst>
    <p:notesMasterId xmlns:r="http://schemas.openxmlformats.org/officeDocument/2006/relationships" r:id="R0e02b9d19e1b46ce"/>
  </p:notesMasterIdLst>
  <p:sldIdLst>
    <p:sldId xmlns:r="http://schemas.openxmlformats.org/officeDocument/2006/relationships" id="256" r:id="Rb1abcb44f5d443ba"/>
    <p:sldId xmlns:r="http://schemas.openxmlformats.org/officeDocument/2006/relationships" id="257" r:id="R8421045a831840ce"/>
    <p:sldId xmlns:r="http://schemas.openxmlformats.org/officeDocument/2006/relationships" id="258" r:id="R4b016e8b031c4829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04f689fced641a4" /><Relationship Type="http://schemas.openxmlformats.org/officeDocument/2006/relationships/slideMaster" Target="/ppt/slideMasters/slideMaster1.xml" Id="R6ada7c34113b47e2" /><Relationship Type="http://schemas.openxmlformats.org/officeDocument/2006/relationships/notesMaster" Target="/ppt/notesMasters/notesMaster1.xml" Id="R0e02b9d19e1b46ce" /><Relationship Type="http://schemas.openxmlformats.org/officeDocument/2006/relationships/presProps" Target="/ppt/presProps.xml" Id="Rb3c64ee7b9024875" /><Relationship Type="http://schemas.openxmlformats.org/officeDocument/2006/relationships/viewProps" Target="/ppt/viewProps.xml" Id="R0386c8f8772d453c" /><Relationship Type="http://schemas.openxmlformats.org/officeDocument/2006/relationships/tableStyles" Target="/ppt/tableStyles.xml" Id="Rde588d283b624c31" /><Relationship Type="http://schemas.openxmlformats.org/officeDocument/2006/relationships/slide" Target="/ppt/slides/slide1.xml" Id="Rb1abcb44f5d443ba" /><Relationship Type="http://schemas.openxmlformats.org/officeDocument/2006/relationships/slide" Target="/ppt/slides/slide2.xml" Id="R8421045a831840ce" /><Relationship Type="http://schemas.openxmlformats.org/officeDocument/2006/relationships/slide" Target="/ppt/slides/slide3.xml" Id="R4b016e8b031c482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ef228d888864ad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ad4264496974f64" /><Relationship Type="http://schemas.openxmlformats.org/officeDocument/2006/relationships/notesMaster" Target="/ppt/notesMasters/notesMaster1.xml" Id="R368f977493de412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7963ddc66c54ea2" /><Relationship Type="http://schemas.openxmlformats.org/officeDocument/2006/relationships/notesMaster" Target="/ppt/notesMasters/notesMaster1.xml" Id="R7ebefa26856c42c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a8caf22f1714f4c" /><Relationship Type="http://schemas.openxmlformats.org/officeDocument/2006/relationships/notesMaster" Target="/ppt/notesMasters/notesMaster1.xml" Id="Rbc29bf770f814dc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solver separates hard feasibility from cable-cost optimization.</a:t>
            </a:r>
          </a:p>
          <a:p xmlns:a="http://schemas.openxmlformats.org/drawingml/2006/main">
            <a:r>
              <a:t>CP-SAT proves the minimum hub count over connected feasible zones.</a:t>
            </a:r>
          </a:p>
          <a:p xmlns:a="http://schemas.openxmlformats.org/drawingml/2006/main">
            <a:r>
              <a:t>Held-Karp solves the visit order for up to five devices, while direction-state A* supplies legal rectilinear paths.</a:t>
            </a:r>
          </a:p>
          <a:p xmlns:a="http://schemas.openxmlformats.org/drawingml/2006/main">
            <a:r>
              <a:t>A ring candidate contains the zone, positions, order and complete geometry. Global CP-SAT accounts for interactions between rings.</a:t>
            </a:r>
          </a:p>
          <a:p xmlns:a="http://schemas.openxmlformats.org/drawingml/2006/main">
            <a:r>
              <a:t>ALNS then perturbs rooms, positions and paths, while preserving the best checked solution.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left image is the current studio and checker output, with all six hard rules passing.</a:t>
            </a:r>
          </a:p>
          <a:p xmlns:a="http://schemas.openxmlformats.org/drawingml/2006/main">
            <a:r>
              <a:t>Across the current repository, 136 automated tests pass.</a:t>
            </a:r>
          </a:p>
          <a:p xmlns:a="http://schemas.openxmlformats.org/drawingml/2006/main">
            <a:r>
              <a:t>The right image is the key optimization counterexample. The current route is valid but costs 26.57.</a:t>
            </a:r>
          </a:p>
          <a:p xmlns:a="http://schemas.openxmlformats.org/drawingml/2006/main">
            <a:r>
              <a:t>A second independently checked route uses the same two hubs and costs 15.975, so the next solver must optimize interactions globally.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critical path starts with Plan ID lookup because all official cases come from ResPlan.pkl.</a:t>
            </a:r>
          </a:p>
          <a:p xmlns:a="http://schemas.openxmlformats.org/drawingml/2006/main">
            <a:r>
              <a:t>The global candidate selector closes the concrete gap observed on the disconnected case.</a:t>
            </a:r>
          </a:p>
          <a:p xmlns:a="http://schemas.openxmlformats.org/drawingml/2006/main">
            <a:r>
              <a:t>ALNS adds improvement under a time limit without sacrificing a valid incumbent.</a:t>
            </a:r>
          </a:p>
          <a:p xmlns:a="http://schemas.openxmlformats.org/drawingml/2006/main">
            <a:r>
              <a:t>The dataset supports benchmarking and parameter tuning. We do not need to train a model for the core submission.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5032d4384d490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1930231a994a0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2011469317447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802aa211db42b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6eb7cb3bb0429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742f20ba9d4c9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aa27dc328545e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8b642d0c2c49a8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c20076f3a941f7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265d9073254227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5ee44604ee49fc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2B2B8C5-17D2-10B8-E10C-B6CF7958B1A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62E65844-3EE9-7F97-A7AE-989AFA3DF68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7356DE2-82A4-7BF8-DFD2-845421BA459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E907EF3-176B-4C4C-81B1-E97FABBC1AB3}" type="datetimeFigureOut">
              <a:t>16-10-2026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3849C70-691C-D0CB-51A1-53282A3C6B0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A4CAB0F-4E02-6456-3A1C-4CCD05A0E34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0925C79-F547-480E-8EDB-D39EAE012259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B9661EE-43EC-3853-5540-F0A8BBAA43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953E7E8-140B-152A-B3F1-462DB90F465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F6E9BDC-967E-D42E-DEF0-D37C03469D4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E907EF3-176B-4C4C-81B1-E97FABBC1AB3}" type="datetimeFigureOut">
              <a:t>16-10-2026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33C5A7E-724E-7221-7C66-47B90DB5AAF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AABF641-64FD-A5BC-95AC-64055DD37FB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0925C79-F547-480E-8EDB-D39EAE012259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6A2E071-6F43-2CAB-8B9E-468D262FFE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053B2DD-BDF8-2F12-6851-82828FB3064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78DF150-1266-1EF5-D4B2-3986DF86100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E907EF3-176B-4C4C-81B1-E97FABBC1AB3}" type="datetimeFigureOut">
              <a:t>16-10-2026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DC66900-785C-E200-A93B-2BB7794BE1D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3C56D91-075A-13C7-C41C-47ABC7BFC73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0925C79-F547-480E-8EDB-D39EAE012259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8EBE331-8445-F510-1E95-DBCE64DBB1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3A970BB-CA18-C9E3-606A-0A50D2F322C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4B3A77F-07B2-A649-78CB-E0B8D42FD5A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EDDAF48-7327-D7C3-CE4A-39F865BD087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E907EF3-176B-4C4C-81B1-E97FABBC1AB3}" type="datetimeFigureOut">
              <a:t>16-10-2026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24DDF75-79E4-1A39-1042-6A2CF8959D1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1F34CA5-BE73-5F62-DD52-948BD8F9470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0925C79-F547-480E-8EDB-D39EAE012259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BF79BFD-F080-97DD-D637-82E2F9C0D7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E127D96-7F95-17EC-3305-7A6DC9BD4AA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8A3B8A67-D90B-E802-7845-2F22A2710BE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5C08DC10-106D-B64D-FB50-BF085858C43A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DA067623-D629-467D-7B25-E94DDB216062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AB91B685-467F-14B1-9BC4-24F9469C09D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E907EF3-176B-4C4C-81B1-E97FABBC1AB3}" type="datetimeFigureOut">
              <a:t>16-10-2026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F78F4731-F439-4E7C-7AF4-EFE01D72209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5F7BC797-3603-1F9C-9B07-533C1DF9984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0925C79-F547-480E-8EDB-D39EAE012259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1877C03-3544-B28F-6942-871B3E690F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4F52ACA9-B585-8441-4A04-FF453FB9109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E907EF3-176B-4C4C-81B1-E97FABBC1AB3}" type="datetimeFigureOut">
              <a:t>16-10-2026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6A19FA25-4602-857D-B9D0-9E9072FD26F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F722D7D4-EA8A-BFAD-5AFD-E24DA6C1415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0925C79-F547-480E-8EDB-D39EAE012259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C4AC080E-5529-E076-0597-A800FCB951D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E907EF3-176B-4C4C-81B1-E97FABBC1AB3}" type="datetimeFigureOut">
              <a:t>16-10-2026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507FF22E-2B44-27C7-5D31-14C9C56A657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2F193C5D-AAE8-4BE7-C500-F3751104505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0925C79-F547-480E-8EDB-D39EAE012259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DCBA181-10D0-551F-2D7F-6ECB5BEE84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D36A4A5-A317-A2B5-0837-5E85E0F87BB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B3E3BDD-1E33-67BD-2264-8A55C6E1253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AD1349D-D702-8D5F-B37E-5C4DCAF67DF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E907EF3-176B-4C4C-81B1-E97FABBC1AB3}" type="datetimeFigureOut">
              <a:t>16-10-2026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BADF4F3-A2C1-A92E-291F-77166CB9EC2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045B5ACF-ADDC-C7FC-7496-8820358FA86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0925C79-F547-480E-8EDB-D39EAE012259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2027DB0-C228-7504-1F1C-43A8214756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08967BC9-1F93-7364-EAE7-905ABD9F3279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D8DFAB1-DEAB-BFEF-DAC8-5A1AF199D5E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F3FD094-AAE7-67B8-F15E-60A50098E66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E907EF3-176B-4C4C-81B1-E97FABBC1AB3}" type="datetimeFigureOut">
              <a:t>16-10-2026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A62755A-6EE4-1ED9-66D4-0B6E81A80AE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C7D0E7A-956D-926E-B314-9E821178379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0925C79-F547-480E-8EDB-D39EAE012259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D60AD22-F4F0-1619-76EA-5800951823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6AF2D17-AF1B-B88E-AA12-A22217B176A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14CA643-5D97-B3A6-1CAF-DB180290C22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E907EF3-176B-4C4C-81B1-E97FABBC1AB3}" type="datetimeFigureOut">
              <a:t>16-10-2026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57421CB-2117-26CB-71B6-0575B6EEA86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51E66CE-505C-427A-6608-0D933143A20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0925C79-F547-480E-8EDB-D39EAE012259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0E1FEB76-9EB8-6E77-1FFE-3B57D9EC52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03D18A65-3491-BA2A-960F-5CE649DA660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F751B54-F18F-2548-33A8-5AAD1F178D5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E907EF3-176B-4C4C-81B1-E97FABBC1AB3}" type="datetimeFigureOut">
              <a:t>16-10-2026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00E4768-D1F4-9FE3-E47F-EC40820401D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81336E3-45CE-F15E-985F-C3F4A1DC266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0925C79-F547-480E-8EDB-D39EAE012259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fedf979bed44738" /><Relationship Type="http://schemas.openxmlformats.org/officeDocument/2006/relationships/slideLayout" Target="/ppt/slideLayouts/slideLayout1.xml" Id="R8cb23a72a7024641" /><Relationship Type="http://schemas.openxmlformats.org/officeDocument/2006/relationships/slideLayout" Target="/ppt/slideLayouts/slideLayout2.xml" Id="Ra83854ff40af4936" /><Relationship Type="http://schemas.openxmlformats.org/officeDocument/2006/relationships/slideLayout" Target="/ppt/slideLayouts/slideLayout3.xml" Id="Ra0ca4bfcc5794677" /><Relationship Type="http://schemas.openxmlformats.org/officeDocument/2006/relationships/slideLayout" Target="/ppt/slideLayouts/slideLayout4.xml" Id="R45712fd7a1274900" /><Relationship Type="http://schemas.openxmlformats.org/officeDocument/2006/relationships/slideLayout" Target="/ppt/slideLayouts/slideLayout5.xml" Id="Rc4dad6aada8b4e3a" /><Relationship Type="http://schemas.openxmlformats.org/officeDocument/2006/relationships/slideLayout" Target="/ppt/slideLayouts/slideLayout6.xml" Id="Rc8abfeb6562c409a" /><Relationship Type="http://schemas.openxmlformats.org/officeDocument/2006/relationships/slideLayout" Target="/ppt/slideLayouts/slideLayout7.xml" Id="R374bff813af04901" /><Relationship Type="http://schemas.openxmlformats.org/officeDocument/2006/relationships/slideLayout" Target="/ppt/slideLayouts/slideLayout8.xml" Id="R2e504dd37267444b" /><Relationship Type="http://schemas.openxmlformats.org/officeDocument/2006/relationships/slideLayout" Target="/ppt/slideLayouts/slideLayout9.xml" Id="R9a60016b4aef4c7b" /><Relationship Type="http://schemas.openxmlformats.org/officeDocument/2006/relationships/slideLayout" Target="/ppt/slideLayouts/slideLayout10.xml" Id="R84296c5a8a484f5b" /><Relationship Type="http://schemas.openxmlformats.org/officeDocument/2006/relationships/slideLayout" Target="/ppt/slideLayouts/slideLayout11.xml" Id="Re980f5be7b274cb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71C54A0-72D7-8473-E5A0-AACDA9DB7B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CF101D5-28D4-0176-2A7A-E4CC1DD4280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C8B39ED-0C5C-FFA0-C3E2-328FC981C27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FE907EF3-176B-4C4C-81B1-E97FABBC1AB3}" type="datetimeFigureOut">
              <a:t>16-10-2026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272BC1E-B30B-5E8C-59C2-DCB66684AF4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2AA00B0-9CBC-DC60-91C0-DDA54A321B5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60925C79-F547-480E-8EDB-D39EAE012259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cb23a72a7024641"/>
    <p:sldLayoutId xmlns:r="http://schemas.openxmlformats.org/officeDocument/2006/relationships" id="2147483650" r:id="Ra83854ff40af4936"/>
    <p:sldLayoutId xmlns:r="http://schemas.openxmlformats.org/officeDocument/2006/relationships" id="2147483651" r:id="Ra0ca4bfcc5794677"/>
    <p:sldLayoutId xmlns:r="http://schemas.openxmlformats.org/officeDocument/2006/relationships" id="2147483652" r:id="R45712fd7a1274900"/>
    <p:sldLayoutId xmlns:r="http://schemas.openxmlformats.org/officeDocument/2006/relationships" id="2147483653" r:id="Rc4dad6aada8b4e3a"/>
    <p:sldLayoutId xmlns:r="http://schemas.openxmlformats.org/officeDocument/2006/relationships" id="2147483654" r:id="Rc8abfeb6562c409a"/>
    <p:sldLayoutId xmlns:r="http://schemas.openxmlformats.org/officeDocument/2006/relationships" id="2147483655" r:id="R374bff813af04901"/>
    <p:sldLayoutId xmlns:r="http://schemas.openxmlformats.org/officeDocument/2006/relationships" id="2147483656" r:id="R2e504dd37267444b"/>
    <p:sldLayoutId xmlns:r="http://schemas.openxmlformats.org/officeDocument/2006/relationships" id="2147483657" r:id="R9a60016b4aef4c7b"/>
    <p:sldLayoutId xmlns:r="http://schemas.openxmlformats.org/officeDocument/2006/relationships" id="2147483658" r:id="R84296c5a8a484f5b"/>
    <p:sldLayoutId xmlns:r="http://schemas.openxmlformats.org/officeDocument/2006/relationships" id="2147483659" r:id="Re980f5be7b274cb3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690494e01c4efb" /><Relationship Type="http://schemas.openxmlformats.org/officeDocument/2006/relationships/notesSlide" Target="/ppt/notesSlides/notesSlide1.xml" Id="R070aeffd137940c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6c8735e3804a14" /><Relationship Type="http://schemas.openxmlformats.org/officeDocument/2006/relationships/image" Target="/ppt/media/image.png" Id="R0add3ba5363649b6" /><Relationship Type="http://schemas.openxmlformats.org/officeDocument/2006/relationships/image" Target="/ppt/media/image2.png" Id="Rd435836e72444635" /><Relationship Type="http://schemas.openxmlformats.org/officeDocument/2006/relationships/notesSlide" Target="/ppt/notesSlides/notesSlide2.xml" Id="R8845008cdc77443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c236dd21c940aa" /><Relationship Type="http://schemas.openxmlformats.org/officeDocument/2006/relationships/notesSlide" Target="/ppt/notesSlides/notesSlide3.xml" Id="R2f9403ee570246b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686B9A2-A6D1-45FE-8854-EB98AC2E08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56032"/>
            <a:ext cx="11274552" cy="566928"/>
          </a:xfrm>
        </p:spPr>
        <p:txBody>
          <a:bodyPr xmlns:a="http://schemas.openxmlformats.org/drawingml/2006/main" wrap="square" lIns="4572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Hybrid optimization for valid cable rings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D0D275D-6B54-4CF5-85C9-AE020FA51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2960"/>
            <a:ext cx="11274552" cy="2682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400" b="0" i="0">
                <a:solidFill>
                  <a:srgbClr val="5B6770"/>
                </a:solidFill>
                <a:latin typeface="Aptos"/>
                <a:ea typeface="Aptos"/>
                <a:cs typeface="Aptos"/>
              </a:rPr>
              <a:t>Exact feasibility and hub count, followed by anytime cable-cost improvement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18A7BAE-0FB9-484E-8D13-E660A5A51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43584"/>
            <a:ext cx="10972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23D7450-D674-4418-A9FE-0DEA213F2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5486400" cy="207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000" b="0" i="0">
                <a:solidFill>
                  <a:srgbClr val="5B6770"/>
                </a:solidFill>
                <a:latin typeface="Aptos"/>
                <a:ea typeface="Aptos"/>
                <a:cs typeface="Aptos"/>
              </a:rPr>
              <a:t>Intermediate update • 16 October 2026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6B0D635-E706-497E-A116-930E18DF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6492240"/>
            <a:ext cx="5696712" cy="207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1000" b="0" i="0">
                <a:solidFill>
                  <a:srgbClr val="5B6770"/>
                </a:solidFill>
                <a:latin typeface="Aptos"/>
                <a:ea typeface="Aptos"/>
                <a:cs typeface="Aptos"/>
              </a:rPr>
              <a:t>Intermediate update  |  Team: ResPlan Co-Design  |  1 / 3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F91987CE-C048-4039-82FA-389DB33DC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74552" cy="4572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2D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7405D47D-B331-439E-BB14-0366CBB8C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3581"/>
            <a:ext cx="11064240" cy="222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ctr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100" b="1" i="0">
                <a:solidFill>
                  <a:srgbClr val="1F2933"/>
                </a:solidFill>
                <a:latin typeface="Aptos"/>
                <a:ea typeface="Aptos"/>
                <a:cs typeface="Aptos"/>
              </a:rPr>
              <a:t>Team:  ResPlan Co-Design                         Members:  Jahnavi Akveti &amp; team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C3156ABA-E240-4879-81DD-DA42C0821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11680"/>
            <a:ext cx="7040880" cy="429768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CBD2D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9680DD27-E11E-486F-B441-C5E88D719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075688"/>
            <a:ext cx="6766560" cy="2682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400" b="1" i="0">
                <a:solidFill>
                  <a:srgbClr val="1F2933"/>
                </a:solidFill>
                <a:latin typeface="Aptos"/>
                <a:ea typeface="Aptos"/>
                <a:cs typeface="Aptos"/>
              </a:rPr>
              <a:t>Solver pipeline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0FEF189-E81C-4E0F-B4E0-847025F4D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423160"/>
            <a:ext cx="457200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8E0E2F71-92D0-44C0-BB9C-03C2633C7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514600"/>
            <a:ext cx="66751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rgbClr val="7B8794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9D8F85E8-D744-4F9F-9E72-059FC5EEE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7808" y="2011680"/>
            <a:ext cx="4123944" cy="429768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CBD2D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82F533D1-42D9-4C15-85EE-05710F237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2075688"/>
            <a:ext cx="3849624" cy="2682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400" b="1" i="0">
                <a:solidFill>
                  <a:srgbClr val="1F2933"/>
                </a:solidFill>
                <a:latin typeface="Aptos"/>
                <a:ea typeface="Aptos"/>
                <a:cs typeface="Aptos"/>
              </a:rPr>
              <a:t>Assumptions and choices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A4605702-CB7F-4D61-ABC3-234A16232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688" y="2423160"/>
            <a:ext cx="457200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C5D01A93-B477-48B4-8F86-7646DFA9C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14600"/>
            <a:ext cx="3794760" cy="2134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spAutoFit/>
          </a:bodyPr>
          <a:lstStyle xmlns:a="http://schemas.openxmlformats.org/drawingml/2006/main">
            <a:defPPr>
              <a:defRPr sz="1140">
                <a:solidFill>
                  <a:srgbClr val="334E6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spcAft>
                <a:spcPts val="400"/>
              </a:spcAft>
              <a:buNone/>
              <a:defRPr sz="1140">
                <a:solidFill>
                  <a:srgbClr val="334E68"/>
                </a:solidFill>
                <a:latin typeface="Aptos"/>
                <a:ea typeface="Aptos"/>
                <a:cs typeface="Aptos"/>
              </a:defRPr>
            </a:pPr>
            <a:r>
              <a:rPr sz="1140" b="0" i="0">
                <a:solidFill>
                  <a:srgbClr val="334E68"/>
                </a:solidFill>
                <a:latin typeface="Aptos"/>
                <a:ea typeface="Aptos"/>
                <a:cs typeface="Aptos"/>
              </a:rPr>
              <a:t>• Devices are generated inside eligible rooms with 0.5 m wall and window clearance.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400"/>
              </a:spcAft>
              <a:buNone/>
              <a:defRPr sz="1140">
                <a:solidFill>
                  <a:srgbClr val="334E68"/>
                </a:solidFill>
                <a:latin typeface="Aptos"/>
                <a:ea typeface="Aptos"/>
                <a:cs typeface="Aptos"/>
              </a:defRPr>
            </a:pPr>
            <a:r>
              <a:rPr sz="1140" b="0" i="0">
                <a:solidFill>
                  <a:srgbClr val="334E68"/>
                </a:solidFill>
                <a:latin typeface="Aptos"/>
                <a:ea typeface="Aptos"/>
                <a:cs typeface="Aptos"/>
              </a:rPr>
              <a:t>• Rooms below 2 m² are ignored. Each hub serves ≤5 devices and ≤100 m².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400"/>
              </a:spcAft>
              <a:buNone/>
              <a:defRPr sz="1140">
                <a:solidFill>
                  <a:srgbClr val="334E68"/>
                </a:solidFill>
                <a:latin typeface="Aptos"/>
                <a:ea typeface="Aptos"/>
                <a:cs typeface="Aptos"/>
              </a:defRPr>
            </a:pPr>
            <a:r>
              <a:rPr sz="1140" b="0" i="0">
                <a:solidFill>
                  <a:srgbClr val="334E68"/>
                </a:solidFill>
                <a:latin typeface="Aptos"/>
                <a:ea typeface="Aptos"/>
                <a:cs typeface="Aptos"/>
              </a:rPr>
              <a:t>• Every route is axis aligned, passes through doors and returns to the same panel.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400"/>
              </a:spcAft>
              <a:buNone/>
              <a:defRPr sz="1140">
                <a:solidFill>
                  <a:srgbClr val="334E68"/>
                </a:solidFill>
                <a:latin typeface="Aptos"/>
                <a:ea typeface="Aptos"/>
                <a:cs typeface="Aptos"/>
              </a:defRPr>
            </a:pPr>
            <a:r>
              <a:rPr sz="1140" b="0" i="0">
                <a:solidFill>
                  <a:srgbClr val="334E68"/>
                </a:solidFill>
                <a:latin typeface="Aptos"/>
                <a:ea typeface="Aptos"/>
                <a:cs typeface="Aptos"/>
              </a:rPr>
              <a:t>• Excluded areas remain blocked unless strict routing proves no valid alternative.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400"/>
              </a:spcAft>
              <a:buNone/>
              <a:defRPr sz="1140">
                <a:solidFill>
                  <a:srgbClr val="334E68"/>
                </a:solidFill>
                <a:latin typeface="Aptos"/>
                <a:ea typeface="Aptos"/>
                <a:cs typeface="Aptos"/>
              </a:defRPr>
            </a:pPr>
            <a:r>
              <a:rPr sz="1140">
                <a:solidFill>
                  <a:srgbClr val="334E68"/>
                </a:solidFill>
                <a:latin typeface="Aptos"/>
                <a:ea typeface="Aptos"/>
                <a:cs typeface="Aptos"/>
              </a:rPr>
              <a:t>• The 17k-plan ResPlan dataset supports lookup, tuning and held-out evaluation. No model training is required.</a:t>
            </a:r>
            <a:endParaRPr sz="1200" b="0" i="0">
              <a:solidFill>
                <a:srgbClr val="7B879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52802B-2986-4AF1-BA4D-11ECCDA39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381125" cy="638175"/>
          </a:xfrm>
          <a:prstGeom xmlns:a="http://schemas.openxmlformats.org/drawingml/2006/main" prst="roundRect">
            <a:avLst>
              <a:gd name="adj" fmla="val 119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8FA4B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13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013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Plan ID</a:t>
            </a:r>
          </a:p>
          <a:p xmlns:a="http://schemas.openxmlformats.org/drawingml/2006/main">
            <a:pPr algn="ctr">
              <a:defRPr sz="1013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ResPlan geometry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4F3595-8F86-402B-BE39-2DB32DE63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724150"/>
            <a:ext cx="1381125" cy="638175"/>
          </a:xfrm>
          <a:prstGeom xmlns:a="http://schemas.openxmlformats.org/drawingml/2006/main" prst="roundRect">
            <a:avLst>
              <a:gd name="adj" fmla="val 119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8FA4B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13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013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Door graph</a:t>
            </a:r>
          </a:p>
          <a:p xmlns:a="http://schemas.openxmlformats.org/drawingml/2006/main">
            <a:pPr algn="ctr">
              <a:defRPr sz="1013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Valid room adjacency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4C769B-E5D9-4282-9CBF-6367FCCD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724150"/>
            <a:ext cx="1381125" cy="638175"/>
          </a:xfrm>
          <a:prstGeom xmlns:a="http://schemas.openxmlformats.org/drawingml/2006/main" prst="roundRect">
            <a:avLst>
              <a:gd name="adj" fmla="val 119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8FA4B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13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013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Connected zones</a:t>
            </a:r>
          </a:p>
          <a:p xmlns:a="http://schemas.openxmlformats.org/drawingml/2006/main">
            <a:pPr algn="ctr">
              <a:defRPr sz="1013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Capacity-feasible sets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B3A630-3559-4B75-AEFF-0558BB2A1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2724150"/>
            <a:ext cx="1381125" cy="638175"/>
          </a:xfrm>
          <a:prstGeom xmlns:a="http://schemas.openxmlformats.org/drawingml/2006/main" prst="roundRect">
            <a:avLst>
              <a:gd name="adj" fmla="val 119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8FA4B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13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013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Ring pool</a:t>
            </a:r>
          </a:p>
          <a:p xmlns:a="http://schemas.openxmlformats.org/drawingml/2006/main">
            <a:pPr algn="ctr">
              <a:defRPr sz="1013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K routes + exact order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D5AFBD-22CD-48E7-B1DF-DF8671AFE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2952750"/>
            <a:ext cx="2095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 w="4763">
            <a:solidFill>
              <a:srgbClr val="C8102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DD83BA-8947-4433-9D83-C780C909D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952750"/>
            <a:ext cx="2095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 w="4763">
            <a:solidFill>
              <a:srgbClr val="C8102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597E6B-8FAA-4DDE-A149-927917135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952750"/>
            <a:ext cx="2095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 w="4763">
            <a:solidFill>
              <a:srgbClr val="C8102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25BFFE-3A45-4FDB-A1BC-2205CC9A3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914775"/>
            <a:ext cx="1571625" cy="638175"/>
          </a:xfrm>
          <a:prstGeom xmlns:a="http://schemas.openxmlformats.org/drawingml/2006/main" prst="roundRect">
            <a:avLst>
              <a:gd name="adj" fmla="val 11940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1430">
            <a:solidFill>
              <a:srgbClr val="2E86C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13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013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Global CP-SAT</a:t>
            </a:r>
          </a:p>
          <a:p xmlns:a="http://schemas.openxmlformats.org/drawingml/2006/main">
            <a:pPr algn="ctr">
              <a:defRPr sz="1013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Minimum H, then J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C8D087-3D3F-4234-9EB1-DA01CDDEF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914775"/>
            <a:ext cx="1571625" cy="638175"/>
          </a:xfrm>
          <a:prstGeom xmlns:a="http://schemas.openxmlformats.org/drawingml/2006/main" prst="roundRect">
            <a:avLst>
              <a:gd name="adj" fmla="val 11940"/>
            </a:avLst>
          </a:prstGeom>
          <a:solidFill xmlns:a="http://schemas.openxmlformats.org/drawingml/2006/main">
            <a:srgbClr val="FDEDEC"/>
          </a:solidFill>
          <a:ln xmlns:a="http://schemas.openxmlformats.org/drawingml/2006/main" w="11430">
            <a:solidFill>
              <a:srgbClr val="C8102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13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013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ALNS</a:t>
            </a:r>
          </a:p>
          <a:p xmlns:a="http://schemas.openxmlformats.org/drawingml/2006/main">
            <a:pPr algn="ctr">
              <a:defRPr sz="1013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Repair + annealing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EFA583-E05B-4396-89D2-4D147AB86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914775"/>
            <a:ext cx="1619250" cy="638175"/>
          </a:xfrm>
          <a:prstGeom xmlns:a="http://schemas.openxmlformats.org/drawingml/2006/main" prst="roundRect">
            <a:avLst>
              <a:gd name="adj" fmla="val 11940"/>
            </a:avLst>
          </a:prstGeom>
          <a:solidFill xmlns:a="http://schemas.openxmlformats.org/drawingml/2006/main">
            <a:srgbClr val="E8F5E9"/>
          </a:solidFill>
          <a:ln xmlns:a="http://schemas.openxmlformats.org/drawingml/2006/main" w="11430">
            <a:solidFill>
              <a:srgbClr val="2E7D3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013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013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Independent checker</a:t>
            </a:r>
          </a:p>
          <a:p xmlns:a="http://schemas.openxmlformats.org/drawingml/2006/main">
            <a:pPr algn="ctr">
              <a:defRPr sz="1013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JSON + overlay + proof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22F74B-56AA-4392-9F8E-63D66E4BB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143375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 w="4763">
            <a:solidFill>
              <a:srgbClr val="C8102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5EEF58-4D02-4E62-801A-309575D78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143375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 w="4763">
            <a:solidFill>
              <a:srgbClr val="C8102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03964E-B1DE-4964-A087-C0E73BFCA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339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38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238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Lexicographic objective:  min H   then   J = L + 5X + O + 0.5B   then   ΔA gap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D55C1BA-4094-446C-BA4E-862944190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295900"/>
            <a:ext cx="6057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065">
                <a:solidFill>
                  <a:srgbClr val="5B6770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065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1065">
                <a:solidFill>
                  <a:srgbClr val="5B6770"/>
                </a:solidFill>
                <a:latin typeface="Aptos"/>
                <a:ea typeface="Aptos"/>
                <a:cs typeface="Aptos"/>
              </a:rPr>
              <a:t>Exact within the generated candidate pool; ALNS keeps the best valid incumbent as time allows.</a:t>
            </a:r>
          </a:p>
        </p:txBody>
      </p:sp>
    </p:spTree>
    <p:extLst>
      <p:ext uri="{BB962C8B-B14F-4D97-AF65-F5344CB8AC3E}">
        <p14:creationId xmlns:p14="http://schemas.microsoft.com/office/powerpoint/2010/main" val="213985998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96CBF30-727D-4DA2-80BD-8D8DCE1982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56032"/>
            <a:ext cx="11274552" cy="566928"/>
          </a:xfrm>
        </p:spPr>
        <p:txBody>
          <a:bodyPr xmlns:a="http://schemas.openxmlformats.org/drawingml/2006/main" wrap="square" lIns="4572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Current progress and measured evidence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4055858-BACA-4373-9048-77B887B8B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2960"/>
            <a:ext cx="11274552" cy="2682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400" b="0" i="0">
                <a:solidFill>
                  <a:srgbClr val="5B6770"/>
                </a:solidFill>
                <a:latin typeface="Aptos"/>
                <a:ea typeface="Aptos"/>
                <a:cs typeface="Aptos"/>
              </a:rPr>
              <a:t>The foundation is valid; a disconnected case exposes the remaining optimization gap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9C35B1EB-58E4-425F-ACAC-258A8F4DE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43584"/>
            <a:ext cx="10972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258945C-A31D-4AE7-B572-B8909284B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5486400" cy="207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000" b="0" i="0">
                <a:solidFill>
                  <a:srgbClr val="5B6770"/>
                </a:solidFill>
                <a:latin typeface="Aptos"/>
                <a:ea typeface="Aptos"/>
                <a:cs typeface="Aptos"/>
              </a:rPr>
              <a:t>Intermediate update • 16 October 2026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2CFD12D-C10D-4730-9ADA-A9C998658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6492240"/>
            <a:ext cx="5696712" cy="207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1000" b="0" i="0">
                <a:solidFill>
                  <a:srgbClr val="5B6770"/>
                </a:solidFill>
                <a:latin typeface="Aptos"/>
                <a:ea typeface="Aptos"/>
                <a:cs typeface="Aptos"/>
              </a:rPr>
              <a:t>Intermediate update  |  Team: ResPlan Co-Design  |  2 / 3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0918E79E-00E9-46DC-BD3B-06649FBA7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3040"/>
            <a:ext cx="3611880" cy="393192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5B6770"/>
            </a:solidFill>
            <a:prstDash val="dash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25F0AB0B-3212-433F-86C9-8BEBF19FA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63040"/>
            <a:ext cx="34290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200" b="0" i="0">
                <a:solidFill>
                  <a:srgbClr val="7B8794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E9D1A416-3111-4986-B528-5D156DB25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2392"/>
            <a:ext cx="3611880" cy="2301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150" b="1" i="0">
                <a:solidFill>
                  <a:srgbClr val="1F2933"/>
                </a:solidFill>
                <a:latin typeface="Aptos"/>
                <a:ea typeface="Aptos"/>
                <a:cs typeface="Aptos"/>
              </a:rPr>
              <a:t>Best current valid demo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BB99BB1D-D1E1-4A31-805B-2B9292069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1463040"/>
            <a:ext cx="3611880" cy="393192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5B6770"/>
            </a:solidFill>
            <a:prstDash val="dash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F4725925-1938-43BB-BE43-C907B9B87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959" y="1463040"/>
            <a:ext cx="34290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200" b="0" i="0">
                <a:solidFill>
                  <a:srgbClr val="7B8794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A41789DC-F056-4084-ABB5-92AF527A0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5422392"/>
            <a:ext cx="3611880" cy="2301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0"/>
              </a:spcAft>
              <a:buNone/>
            </a:pPr>
            <a:r>
              <a:rPr sz="1150" b="1" i="0">
                <a:solidFill>
                  <a:srgbClr val="1F2933"/>
                </a:solidFill>
                <a:latin typeface="Aptos"/>
                <a:ea typeface="Aptos"/>
                <a:cs typeface="Aptos"/>
              </a:rPr>
              <a:t>Hard case: same hubs, avoidable cable cost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BE1C090A-24F3-4CF4-B6E8-EE1D49D50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1463040"/>
            <a:ext cx="3822191" cy="484632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CBD2D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E81C845-CAD0-4B22-A3F6-517A8F5C3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1527048"/>
            <a:ext cx="3547872" cy="2682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400" b="1" i="0">
                <a:solidFill>
                  <a:srgbClr val="1F2933"/>
                </a:solidFill>
                <a:latin typeface="Aptos"/>
                <a:ea typeface="Aptos"/>
                <a:cs typeface="Aptos"/>
              </a:rPr>
              <a:t>Verified today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B10B6D10-AA32-44DF-9A25-351886B77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874520"/>
            <a:ext cx="457200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18F857E0-5470-4427-AB77-E7FD8A99E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5008" y="1965960"/>
            <a:ext cx="3520440" cy="34268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spAutoFit/>
          </a:bodyPr>
          <a:lstStyle xmlns:a="http://schemas.openxmlformats.org/drawingml/2006/main">
            <a:defPPr>
              <a:defRPr sz="1110">
                <a:solidFill>
                  <a:srgbClr val="334E6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spcAft>
                <a:spcPts val="300"/>
              </a:spcAft>
              <a:buNone/>
              <a:defRPr sz="1110">
                <a:solidFill>
                  <a:srgbClr val="334E68"/>
                </a:solidFill>
                <a:latin typeface="Aptos"/>
                <a:ea typeface="Aptos"/>
                <a:cs typeface="Aptos"/>
              </a:defRPr>
            </a:pPr>
            <a:r>
              <a:rPr sz="1110" b="0" i="0">
                <a:solidFill>
                  <a:srgbClr val="334E68"/>
                </a:solidFill>
                <a:latin typeface="Aptos"/>
                <a:ea typeface="Aptos"/>
                <a:cs typeface="Aptos"/>
              </a:rPr>
              <a:t>136 automated tests pass</a:t>
            </a:r>
          </a:p>
          <a:p xmlns:a="http://schemas.openxmlformats.org/drawingml/2006/main">
            <a:pPr algn="l">
              <a:lnSpc>
                <a:spcPct val="104000"/>
              </a:lnSpc>
              <a:spcAft>
                <a:spcPts val="300"/>
              </a:spcAft>
              <a:buNone/>
              <a:defRPr sz="1110">
                <a:solidFill>
                  <a:srgbClr val="334E68"/>
                </a:solidFill>
                <a:latin typeface="Aptos"/>
                <a:ea typeface="Aptos"/>
                <a:cs typeface="Aptos"/>
              </a:defRPr>
            </a:pPr>
            <a:r>
              <a:rPr sz="1110" b="0" i="0">
                <a:solidFill>
                  <a:srgbClr val="334E68"/>
                </a:solidFill>
                <a:latin typeface="Aptos"/>
                <a:ea typeface="Aptos"/>
                <a:cs typeface="Aptos"/>
              </a:rPr>
              <a:t>• End-to-end JSON, PNG and interactive 2D/3D output</a:t>
            </a:r>
          </a:p>
          <a:p xmlns:a="http://schemas.openxmlformats.org/drawingml/2006/main">
            <a:pPr algn="l">
              <a:lnSpc>
                <a:spcPct val="104000"/>
              </a:lnSpc>
              <a:spcAft>
                <a:spcPts val="300"/>
              </a:spcAft>
              <a:buNone/>
              <a:defRPr sz="1110">
                <a:solidFill>
                  <a:srgbClr val="334E68"/>
                </a:solidFill>
                <a:latin typeface="Aptos"/>
                <a:ea typeface="Aptos"/>
                <a:cs typeface="Aptos"/>
              </a:defRPr>
            </a:pPr>
            <a:r>
              <a:rPr sz="1110">
                <a:solidFill>
                  <a:srgbClr val="334E68"/>
                </a:solidFill>
                <a:latin typeface="Aptos"/>
                <a:ea typeface="Aptos"/>
                <a:cs typeface="Aptos"/>
              </a:rPr>
              <a:t>• Door topology, direction-aware A* and geometric checker</a:t>
            </a:r>
            <a:endParaRPr sz="1200" b="0" i="0">
              <a:solidFill>
                <a:srgbClr val="7B8794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algn="l">
              <a:lnSpc>
                <a:spcPct val="104000"/>
              </a:lnSpc>
              <a:spcAft>
                <a:spcPts val="300"/>
              </a:spcAft>
              <a:buNone/>
              <a:defRPr sz="1110">
                <a:solidFill>
                  <a:srgbClr val="334E68"/>
                </a:solidFill>
                <a:latin typeface="Aptos"/>
                <a:ea typeface="Aptos"/>
                <a:cs typeface="Aptos"/>
              </a:defRPr>
            </a:pPr>
            <a:r>
              <a:rPr sz="1110" b="0" i="0">
                <a:solidFill>
                  <a:srgbClr val="334E68"/>
                </a:solidFill>
                <a:latin typeface="Aptos"/>
                <a:ea typeface="Aptos"/>
                <a:cs typeface="Aptos"/>
              </a:rPr>
              <a:t>• Exact Held-Karp order for each ≤5-device ring</a:t>
            </a:r>
          </a:p>
          <a:p xmlns:a="http://schemas.openxmlformats.org/drawingml/2006/main">
            <a:pPr algn="l">
              <a:lnSpc>
                <a:spcPct val="104000"/>
              </a:lnSpc>
              <a:spcAft>
                <a:spcPts val="300"/>
              </a:spcAft>
              <a:buNone/>
              <a:defRPr sz="1110">
                <a:solidFill>
                  <a:srgbClr val="334E68"/>
                </a:solidFill>
                <a:latin typeface="Aptos"/>
                <a:ea typeface="Aptos"/>
                <a:cs typeface="Aptos"/>
              </a:defRPr>
            </a:pPr>
            <a:r>
              <a:rPr sz="1110" b="0" i="0">
                <a:solidFill>
                  <a:srgbClr val="334E68"/>
                </a:solidFill>
                <a:latin typeface="Aptos"/>
                <a:ea typeface="Aptos"/>
                <a:cs typeface="Aptos"/>
              </a:rPr>
              <a:t>• Minimum hub count certified on the demo fixtures</a:t>
            </a:r>
          </a:p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t/>
            </a:r>
            <a:endParaRPr sz="1200" b="0" i="0">
              <a:solidFill>
                <a:srgbClr val="7B8794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algn="l">
              <a:lnSpc>
                <a:spcPct val="104000"/>
              </a:lnSpc>
              <a:spcAft>
                <a:spcPts val="300"/>
              </a:spcAft>
              <a:buNone/>
              <a:defRPr sz="1110">
                <a:solidFill>
                  <a:srgbClr val="334E68"/>
                </a:solidFill>
                <a:latin typeface="Aptos"/>
                <a:ea typeface="Aptos"/>
                <a:cs typeface="Aptos"/>
              </a:defRPr>
            </a:pPr>
            <a:r>
              <a:rPr sz="1110" b="0" i="0">
                <a:solidFill>
                  <a:srgbClr val="334E68"/>
                </a:solidFill>
                <a:latin typeface="Aptos"/>
                <a:ea typeface="Aptos"/>
                <a:cs typeface="Aptos"/>
              </a:rPr>
              <a:t>Measured limitation</a:t>
            </a:r>
          </a:p>
          <a:p xmlns:a="http://schemas.openxmlformats.org/drawingml/2006/main">
            <a:pPr algn="l">
              <a:lnSpc>
                <a:spcPct val="104000"/>
              </a:lnSpc>
              <a:spcAft>
                <a:spcPts val="300"/>
              </a:spcAft>
              <a:buNone/>
              <a:defRPr sz="1110">
                <a:solidFill>
                  <a:srgbClr val="334E68"/>
                </a:solidFill>
                <a:latin typeface="Aptos"/>
                <a:ea typeface="Aptos"/>
                <a:cs typeface="Aptos"/>
              </a:defRPr>
            </a:pPr>
            <a:r>
              <a:rPr sz="1110" b="0" i="0">
                <a:solidFill>
                  <a:srgbClr val="334E68"/>
                </a:solidFill>
                <a:latin typeface="Aptos"/>
                <a:ea typeface="Aptos"/>
                <a:cs typeface="Aptos"/>
              </a:rPr>
              <a:t>The sequential router returns J=26.57 on the disconnected case. An independently checked route with the same H=2 reaches J=15.975, a 40% reduction.</a:t>
            </a:r>
          </a:p>
          <a:p xmlns:a="http://schemas.openxmlformats.org/drawingml/2006/main">
            <a:pPr algn="l">
              <a:spcAft>
                <a:spcPts val="300"/>
              </a:spcAft>
              <a:buNone/>
            </a:pPr>
            <a:r>
              <a:rPr sz="1200" b="0" i="0">
                <a:solidFill>
                  <a:srgbClr val="7B8794"/>
                </a:solidFill>
                <a:latin typeface="Aptos"/>
                <a:ea typeface="Aptos"/>
                <a:cs typeface="Aptos"/>
              </a:rPr>
              <a:t/>
            </a:r>
          </a:p>
          <a:p xmlns:a="http://schemas.openxmlformats.org/drawingml/2006/main">
            <a:pPr algn="l">
              <a:lnSpc>
                <a:spcPct val="104000"/>
              </a:lnSpc>
              <a:spcAft>
                <a:spcPts val="300"/>
              </a:spcAft>
              <a:buNone/>
              <a:defRPr sz="1110">
                <a:solidFill>
                  <a:srgbClr val="334E68"/>
                </a:solidFill>
                <a:latin typeface="Aptos"/>
                <a:ea typeface="Aptos"/>
                <a:cs typeface="Aptos"/>
              </a:defRPr>
            </a:pPr>
            <a:r>
              <a:rPr sz="1110" b="0" i="0">
                <a:solidFill>
                  <a:srgbClr val="334E68"/>
                </a:solidFill>
                <a:latin typeface="Aptos"/>
                <a:ea typeface="Aptos"/>
                <a:cs typeface="Aptos"/>
              </a:rPr>
              <a:t>Next algorithmic step</a:t>
            </a:r>
          </a:p>
          <a:p xmlns:a="http://schemas.openxmlformats.org/drawingml/2006/main">
            <a:pPr algn="l">
              <a:lnSpc>
                <a:spcPct val="104000"/>
              </a:lnSpc>
              <a:spcAft>
                <a:spcPts val="300"/>
              </a:spcAft>
              <a:buNone/>
              <a:defRPr sz="1110">
                <a:solidFill>
                  <a:srgbClr val="334E68"/>
                </a:solidFill>
                <a:latin typeface="Aptos"/>
                <a:ea typeface="Aptos"/>
                <a:cs typeface="Aptos"/>
              </a:defRPr>
            </a:pPr>
            <a:r>
              <a:rPr sz="1110" b="0" i="0">
                <a:solidFill>
                  <a:srgbClr val="334E68"/>
                </a:solidFill>
                <a:latin typeface="Aptos"/>
                <a:ea typeface="Aptos"/>
                <a:cs typeface="Aptos"/>
              </a:rPr>
              <a:t>Multiple complete ring candidates, global CP-SAT selection and ALNS refinement.</a:t>
            </a:r>
          </a:p>
        </p:txBody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5F5A3B-A9F4-4AD4-9E3A-85A95372E9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dd3ba5363649b6"/>
          <a:stretch xmlns:a="http://schemas.openxmlformats.org/drawingml/2006/main"/>
        </p:blipFill>
        <p:spPr>
          <a:xfrm xmlns:a="http://schemas.openxmlformats.org/drawingml/2006/main">
            <a:off x="552450" y="1718518"/>
            <a:ext cx="3419475" cy="2030313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906B36-1C79-48E9-BEC6-6569EB19C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314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H 1     L 18.40 m     B 8     X 0     O 0</a:t>
            </a:r>
          </a:p>
          <a:p xmlns:a="http://schemas.openxmlformats.org/drawingml/2006/main">
            <a:pPr algn="ctr">
              <a:defRPr sz="112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J 22.40     6 of 6 hard rules pass</a:t>
            </a:r>
          </a:p>
        </p:txBody>
      </p:sp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105EF8-9DC7-4692-A7F0-BF23C9839C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35836e72444635"/>
          <a:stretch xmlns:a="http://schemas.openxmlformats.org/drawingml/2006/main"/>
        </p:blipFill>
        <p:spPr>
          <a:xfrm xmlns:a="http://schemas.openxmlformats.org/drawingml/2006/main">
            <a:off x="4257675" y="1818083"/>
            <a:ext cx="3419475" cy="1831184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4C6E6D-6FBF-4BC7-993C-3F1B55CED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000500"/>
            <a:ext cx="314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Current: H 2, J 26.57</a:t>
            </a:r>
          </a:p>
          <a:p xmlns:a="http://schemas.openxmlformats.org/drawingml/2006/main">
            <a:pPr algn="ctr">
              <a:defRPr sz="112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Checked alternative: H 2, J 15.975</a:t>
            </a:r>
          </a:p>
        </p:txBody>
      </p:sp>
    </p:spTree>
    <p:extLst>
      <p:ext uri="{BB962C8B-B14F-4D97-AF65-F5344CB8AC3E}">
        <p14:creationId xmlns:p14="http://schemas.microsoft.com/office/powerpoint/2010/main" val="51588168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AB75D73-F5CB-4C73-9A3E-2731FE18A0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56032"/>
            <a:ext cx="11274552" cy="566928"/>
          </a:xfrm>
        </p:spPr>
        <p:txBody>
          <a:bodyPr xmlns:a="http://schemas.openxmlformats.org/drawingml/2006/main" wrap="square" lIns="45720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Remaining work and differentiation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A4E1443-6527-422D-90CE-2417B3EDC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22960"/>
            <a:ext cx="11274552" cy="2682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400" b="0" i="0">
                <a:solidFill>
                  <a:srgbClr val="5B6770"/>
                </a:solidFill>
                <a:latin typeface="Aptos"/>
                <a:ea typeface="Aptos"/>
                <a:cs typeface="Aptos"/>
              </a:rPr>
              <a:t>The next build closes the measured cost gap and connects the 17k-plan dataset to the studio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6EB541D-AB18-4CD0-9CA2-F57DD4699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43584"/>
            <a:ext cx="10972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5E0C2564-EEDE-439D-980A-AD0E10A28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5486400" cy="207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000" b="0" i="0">
                <a:solidFill>
                  <a:srgbClr val="5B6770"/>
                </a:solidFill>
                <a:latin typeface="Aptos"/>
                <a:ea typeface="Aptos"/>
                <a:cs typeface="Aptos"/>
              </a:rPr>
              <a:t>Intermediate update • 16 October 2026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96DC305-09A5-49B4-A254-44CC3B579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6492240"/>
            <a:ext cx="5696712" cy="207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spAutoFit/>
          </a:bodyPr>
          <a:lstStyle xmlns:a="http://schemas.openxmlformats.org/drawingml/2006/main"/>
          <a:p xmlns:a="http://schemas.openxmlformats.org/drawingml/2006/main">
            <a:pPr algn="r">
              <a:spcAft>
                <a:spcPts val="0"/>
              </a:spcAft>
              <a:buNone/>
            </a:pPr>
            <a:r>
              <a:rPr sz="1000" b="0" i="0">
                <a:solidFill>
                  <a:srgbClr val="5B6770"/>
                </a:solidFill>
                <a:latin typeface="Aptos"/>
                <a:ea typeface="Aptos"/>
                <a:cs typeface="Aptos"/>
              </a:rPr>
              <a:t>Intermediate update  |  Team: ResPlan Co-Design  |  3 / 3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E7967F3C-2418-4D3C-997A-E1048CCEA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3040"/>
            <a:ext cx="5559552" cy="361188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CBD2D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1998CD8-BE6D-4403-8B53-5E3D4AB7F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527048"/>
            <a:ext cx="5285232" cy="2682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400" b="1" i="0">
                <a:solidFill>
                  <a:srgbClr val="1F2933"/>
                </a:solidFill>
                <a:latin typeface="Aptos"/>
                <a:ea typeface="Aptos"/>
                <a:cs typeface="Aptos"/>
              </a:rPr>
              <a:t>Remaining issues   current scope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50AB1B8-FDE0-4A42-B28D-18A8503C3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74520"/>
            <a:ext cx="457200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93A1A6E2-E1EE-44A4-AC02-35C6FB73E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65960"/>
            <a:ext cx="5212080" cy="32354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spAutoFit/>
          </a:bodyPr>
          <a:lstStyle xmlns:a="http://schemas.openxmlformats.org/drawingml/2006/main">
            <a:defPPr>
              <a:defRPr sz="1133">
                <a:solidFill>
                  <a:srgbClr val="334E6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3000"/>
              </a:lnSpc>
              <a:spcAft>
                <a:spcPts val="400"/>
              </a:spcAft>
              <a:buNone/>
              <a:defRPr sz="1133">
                <a:solidFill>
                  <a:srgbClr val="334E68"/>
                </a:solidFill>
                <a:latin typeface="Aptos"/>
                <a:ea typeface="Aptos"/>
                <a:cs typeface="Aptos"/>
              </a:defRPr>
            </a:pPr>
            <a:r>
              <a:rPr sz="1133" b="0" i="0">
                <a:solidFill>
                  <a:srgbClr val="334E68"/>
                </a:solidFill>
                <a:latin typeface="Aptos"/>
                <a:ea typeface="Aptos"/>
                <a:cs typeface="Aptos"/>
              </a:rPr>
              <a:t>1. Dataset Plan ID workflow</a:t>
            </a:r>
          </a:p>
          <a:p xmlns:a="http://schemas.openxmlformats.org/drawingml/2006/main">
            <a:pPr algn="l">
              <a:lnSpc>
                <a:spcPct val="103000"/>
              </a:lnSpc>
              <a:spcAft>
                <a:spcPts val="400"/>
              </a:spcAft>
              <a:buNone/>
              <a:defRPr sz="1133">
                <a:solidFill>
                  <a:srgbClr val="334E68"/>
                </a:solidFill>
                <a:latin typeface="Aptos"/>
                <a:ea typeface="Aptos"/>
                <a:cs typeface="Aptos"/>
              </a:defRPr>
            </a:pPr>
            <a:r>
              <a:rPr sz="1133" b="0" i="0">
                <a:solidFill>
                  <a:srgbClr val="334E68"/>
                </a:solidFill>
                <a:latin typeface="Aptos"/>
                <a:ea typeface="Aptos"/>
                <a:cs typeface="Aptos"/>
              </a:rPr>
              <a:t>Index ResPlan.pkl once, adapt Shapely geometry and return a cached 2D/3D preview.</a:t>
            </a:r>
          </a:p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t/>
            </a:r>
            <a:endParaRPr sz="1200" b="0" i="0">
              <a:solidFill>
                <a:srgbClr val="7B8794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algn="l">
              <a:lnSpc>
                <a:spcPct val="103000"/>
              </a:lnSpc>
              <a:spcAft>
                <a:spcPts val="400"/>
              </a:spcAft>
              <a:buNone/>
              <a:defRPr sz="1133">
                <a:solidFill>
                  <a:srgbClr val="334E68"/>
                </a:solidFill>
                <a:latin typeface="Aptos"/>
                <a:ea typeface="Aptos"/>
                <a:cs typeface="Aptos"/>
              </a:defRPr>
            </a:pPr>
            <a:r>
              <a:rPr sz="1133" b="0" i="0">
                <a:solidFill>
                  <a:srgbClr val="334E68"/>
                </a:solidFill>
                <a:latin typeface="Aptos"/>
                <a:ea typeface="Aptos"/>
                <a:cs typeface="Aptos"/>
              </a:rPr>
              <a:t>2. Joint cable optimization</a:t>
            </a:r>
          </a:p>
          <a:p xmlns:a="http://schemas.openxmlformats.org/drawingml/2006/main">
            <a:pPr algn="l">
              <a:lnSpc>
                <a:spcPct val="103000"/>
              </a:lnSpc>
              <a:spcAft>
                <a:spcPts val="400"/>
              </a:spcAft>
              <a:buNone/>
              <a:defRPr sz="1133">
                <a:solidFill>
                  <a:srgbClr val="334E68"/>
                </a:solidFill>
                <a:latin typeface="Aptos"/>
                <a:ea typeface="Aptos"/>
                <a:cs typeface="Aptos"/>
              </a:defRPr>
            </a:pPr>
            <a:r>
              <a:rPr sz="1133" b="0" i="0">
                <a:solidFill>
                  <a:srgbClr val="334E68"/>
                </a:solidFill>
                <a:latin typeface="Aptos"/>
                <a:ea typeface="Aptos"/>
                <a:cs typeface="Aptos"/>
              </a:rPr>
              <a:t>Generate several legal paths and complete rings, then select them globally with CP-SAT.</a:t>
            </a:r>
          </a:p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rgbClr val="7B8794"/>
                </a:solidFill>
                <a:latin typeface="Aptos"/>
                <a:ea typeface="Aptos"/>
                <a:cs typeface="Aptos"/>
              </a:rPr>
              <a:t/>
            </a:r>
          </a:p>
          <a:p xmlns:a="http://schemas.openxmlformats.org/drawingml/2006/main">
            <a:pPr algn="l">
              <a:lnSpc>
                <a:spcPct val="103000"/>
              </a:lnSpc>
              <a:spcAft>
                <a:spcPts val="400"/>
              </a:spcAft>
              <a:buNone/>
              <a:defRPr sz="1133">
                <a:solidFill>
                  <a:srgbClr val="334E68"/>
                </a:solidFill>
                <a:latin typeface="Aptos"/>
                <a:ea typeface="Aptos"/>
                <a:cs typeface="Aptos"/>
              </a:defRPr>
            </a:pPr>
            <a:r>
              <a:rPr sz="1133" b="0" i="0">
                <a:solidFill>
                  <a:srgbClr val="334E68"/>
                </a:solidFill>
                <a:latin typeface="Aptos"/>
                <a:ea typeface="Aptos"/>
                <a:cs typeface="Aptos"/>
              </a:rPr>
              <a:t>3. Bounded search time</a:t>
            </a:r>
          </a:p>
          <a:p xmlns:a="http://schemas.openxmlformats.org/drawingml/2006/main">
            <a:pPr algn="l">
              <a:lnSpc>
                <a:spcPct val="103000"/>
              </a:lnSpc>
              <a:spcAft>
                <a:spcPts val="400"/>
              </a:spcAft>
              <a:buNone/>
              <a:defRPr sz="1133">
                <a:solidFill>
                  <a:srgbClr val="334E68"/>
                </a:solidFill>
                <a:latin typeface="Aptos"/>
                <a:ea typeface="Aptos"/>
                <a:cs typeface="Aptos"/>
              </a:defRPr>
            </a:pPr>
            <a:r>
              <a:rPr sz="1133" b="0" i="0">
                <a:solidFill>
                  <a:srgbClr val="334E68"/>
                </a:solidFill>
                <a:latin typeface="Aptos"/>
                <a:ea typeface="Aptos"/>
                <a:cs typeface="Aptos"/>
              </a:rPr>
              <a:t>Cache grids and routes; ALNS always returns the best checked incumbent at the deadline.</a:t>
            </a:r>
          </a:p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rgbClr val="7B8794"/>
                </a:solidFill>
                <a:latin typeface="Aptos"/>
                <a:ea typeface="Aptos"/>
                <a:cs typeface="Aptos"/>
              </a:rPr>
              <a:t/>
            </a:r>
          </a:p>
          <a:p xmlns:a="http://schemas.openxmlformats.org/drawingml/2006/main">
            <a:pPr algn="l">
              <a:lnSpc>
                <a:spcPct val="103000"/>
              </a:lnSpc>
              <a:spcAft>
                <a:spcPts val="400"/>
              </a:spcAft>
              <a:buNone/>
              <a:defRPr sz="1133">
                <a:solidFill>
                  <a:srgbClr val="334E68"/>
                </a:solidFill>
                <a:latin typeface="Aptos"/>
                <a:ea typeface="Aptos"/>
                <a:cs typeface="Aptos"/>
              </a:defRPr>
            </a:pPr>
            <a:r>
              <a:rPr sz="1133" b="0" i="0">
                <a:solidFill>
                  <a:srgbClr val="334E68"/>
                </a:solidFill>
                <a:latin typeface="Aptos"/>
                <a:ea typeface="Aptos"/>
                <a:cs typeface="Aptos"/>
              </a:rPr>
              <a:t>4. Evidence at dataset scale</a:t>
            </a:r>
          </a:p>
          <a:p xmlns:a="http://schemas.openxmlformats.org/drawingml/2006/main">
            <a:pPr algn="l">
              <a:lnSpc>
                <a:spcPct val="103000"/>
              </a:lnSpc>
              <a:spcAft>
                <a:spcPts val="400"/>
              </a:spcAft>
              <a:buNone/>
              <a:defRPr sz="1133">
                <a:solidFill>
                  <a:srgbClr val="334E68"/>
                </a:solidFill>
                <a:latin typeface="Aptos"/>
                <a:ea typeface="Aptos"/>
                <a:cs typeface="Aptos"/>
              </a:defRPr>
            </a:pPr>
            <a:r>
              <a:rPr sz="1133" b="0" i="0">
                <a:solidFill>
                  <a:srgbClr val="334E68"/>
                </a:solidFill>
                <a:latin typeface="Aptos"/>
                <a:ea typeface="Aptos"/>
                <a:cs typeface="Aptos"/>
              </a:rPr>
              <a:t>Compare hybrid J and runtime against the required greedy baseline on held-out plans.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A80DFBCD-B9BD-4CA0-9170-981A62BDB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463040"/>
            <a:ext cx="5605272" cy="361188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CBD2D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E9B69D7-BEA8-402D-8838-E87E2D394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527048"/>
            <a:ext cx="5330952" cy="2682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400" b="1" i="0">
                <a:solidFill>
                  <a:srgbClr val="1F2933"/>
                </a:solidFill>
                <a:latin typeface="Aptos"/>
                <a:ea typeface="Aptos"/>
                <a:cs typeface="Aptos"/>
              </a:rPr>
              <a:t>Differentiation   after the exact core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1EC75C35-4BFA-419C-954D-A9827C6C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874520"/>
            <a:ext cx="457200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D6041967-ACBF-49EC-B85B-12C72BAE5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965960"/>
            <a:ext cx="5257800" cy="23244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spAutoFit/>
          </a:bodyPr>
          <a:lstStyle xmlns:a="http://schemas.openxmlformats.org/drawingml/2006/main">
            <a:defPPr>
              <a:defRPr sz="1133">
                <a:solidFill>
                  <a:srgbClr val="334E6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lnSpc>
                <a:spcPct val="104000"/>
              </a:lnSpc>
              <a:spcAft>
                <a:spcPts val="400"/>
              </a:spcAft>
              <a:buNone/>
              <a:defRPr sz="1133">
                <a:solidFill>
                  <a:srgbClr val="334E68"/>
                </a:solidFill>
                <a:latin typeface="Aptos"/>
                <a:ea typeface="Aptos"/>
                <a:cs typeface="Aptos"/>
              </a:defRPr>
            </a:pPr>
            <a:r>
              <a:rPr sz="1133" b="0" i="0">
                <a:solidFill>
                  <a:srgbClr val="334E68"/>
                </a:solidFill>
                <a:latin typeface="Aptos"/>
                <a:ea typeface="Aptos"/>
                <a:cs typeface="Aptos"/>
              </a:rPr>
              <a:t>Anytime proof dashboard: show greedy cost, best cost, lower bound and gap while search runs.</a:t>
            </a:r>
          </a:p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t/>
            </a:r>
            <a:endParaRPr sz="1200" b="0" i="0">
              <a:solidFill>
                <a:srgbClr val="7B8794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algn="l">
              <a:lnSpc>
                <a:spcPct val="104000"/>
              </a:lnSpc>
              <a:spcAft>
                <a:spcPts val="400"/>
              </a:spcAft>
              <a:buNone/>
              <a:defRPr sz="1133">
                <a:solidFill>
                  <a:srgbClr val="334E68"/>
                </a:solidFill>
                <a:latin typeface="Aptos"/>
                <a:ea typeface="Aptos"/>
                <a:cs typeface="Aptos"/>
              </a:defRPr>
            </a:pPr>
            <a:r>
              <a:rPr sz="1133" b="0" i="0">
                <a:solidFill>
                  <a:srgbClr val="334E68"/>
                </a:solidFill>
                <a:latin typeface="Aptos"/>
                <a:ea typeface="Aptos"/>
                <a:cs typeface="Aptos"/>
              </a:rPr>
              <a:t>Explainable alternatives: compare routes and expose the length, bend, crossing and overlap trade-offs.</a:t>
            </a:r>
          </a:p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200" b="0" i="0">
                <a:solidFill>
                  <a:srgbClr val="7B8794"/>
                </a:solidFill>
                <a:latin typeface="Aptos"/>
                <a:ea typeface="Aptos"/>
                <a:cs typeface="Aptos"/>
              </a:rPr>
              <a:t/>
            </a:r>
          </a:p>
          <a:p xmlns:a="http://schemas.openxmlformats.org/drawingml/2006/main">
            <a:pPr algn="l">
              <a:lnSpc>
                <a:spcPct val="104000"/>
              </a:lnSpc>
              <a:spcAft>
                <a:spcPts val="400"/>
              </a:spcAft>
              <a:buNone/>
              <a:defRPr sz="1133">
                <a:solidFill>
                  <a:srgbClr val="334E68"/>
                </a:solidFill>
                <a:latin typeface="Aptos"/>
                <a:ea typeface="Aptos"/>
                <a:cs typeface="Aptos"/>
              </a:defRPr>
            </a:pPr>
            <a:r>
              <a:rPr sz="1133" b="0" i="0">
                <a:solidFill>
                  <a:srgbClr val="334E68"/>
                </a:solidFill>
                <a:latin typeface="Aptos"/>
                <a:ea typeface="Aptos"/>
                <a:cs typeface="Aptos"/>
              </a:rPr>
              <a:t>Resilience simulation: cut any cable segment and demonstrate closed-loop service behaviour.</a:t>
            </a:r>
          </a:p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t/>
            </a:r>
            <a:endParaRPr sz="1200" b="0" i="0">
              <a:solidFill>
                <a:srgbClr val="7B8794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algn="l">
              <a:lnSpc>
                <a:spcPct val="104000"/>
              </a:lnSpc>
              <a:spcAft>
                <a:spcPts val="400"/>
              </a:spcAft>
              <a:buNone/>
              <a:defRPr sz="1133">
                <a:solidFill>
                  <a:srgbClr val="334E68"/>
                </a:solidFill>
                <a:latin typeface="Aptos"/>
                <a:ea typeface="Aptos"/>
                <a:cs typeface="Aptos"/>
              </a:defRPr>
            </a:pPr>
            <a:r>
              <a:rPr sz="1133">
                <a:solidFill>
                  <a:srgbClr val="334E68"/>
                </a:solidFill>
                <a:latin typeface="Aptos"/>
                <a:ea typeface="Aptos"/>
                <a:cs typeface="Aptos"/>
              </a:rPr>
              <a:t>Learned warm-start: rank promising candidates later; validation and CP-SAT remain authoritative.</a:t>
            </a:r>
            <a:endParaRPr sz="1200" b="0" i="0">
              <a:solidFill>
                <a:srgbClr val="7B879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BE739E7F-53F8-442B-AF19-6C438DD5D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84648"/>
            <a:ext cx="11274552" cy="1143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CBD2D9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93B4B8F9-6E35-4415-8D10-FCEE7952D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248656"/>
            <a:ext cx="11000232" cy="2682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0"/>
              </a:spcAft>
              <a:buNone/>
            </a:pPr>
            <a:r>
              <a:rPr sz="1400" b="1" i="0">
                <a:solidFill>
                  <a:srgbClr val="1F2933"/>
                </a:solidFill>
                <a:latin typeface="Aptos"/>
                <a:ea typeface="Aptos"/>
                <a:cs typeface="Aptos"/>
              </a:rPr>
              <a:t>Next steps and help needed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E0DAC98F-818E-4E87-B2D6-01364201C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596128"/>
            <a:ext cx="457200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F67EAE29-F1D9-4D9E-B428-6791B452C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623560"/>
            <a:ext cx="10881360" cy="4323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45720" tIns="27432" rIns="45720" bIns="27432" anchor="t">
            <a:spAutoFit/>
          </a:bodyPr>
          <a:lstStyle xmlns:a="http://schemas.openxmlformats.org/drawingml/2006/main">
            <a:defPPr algn="l">
              <a:defRPr sz="1155">
                <a:solidFill>
                  <a:srgbClr val="334E68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spcAft>
                <a:spcPts val="200"/>
              </a:spcAft>
              <a:buNone/>
              <a:defRPr sz="1155">
                <a:solidFill>
                  <a:srgbClr val="334E68"/>
                </a:solidFill>
                <a:latin typeface="Aptos"/>
                <a:ea typeface="Aptos"/>
                <a:cs typeface="Aptos"/>
              </a:defRPr>
            </a:pPr>
            <a:r>
              <a:rPr sz="1155" b="0" i="0">
                <a:solidFill>
                  <a:srgbClr val="334E68"/>
                </a:solidFill>
                <a:latin typeface="Aptos"/>
                <a:ea typeface="Aptos"/>
                <a:cs typeface="Aptos"/>
              </a:rPr>
              <a:t>Index and preview Plan IDs  •  generate legal device candidates  •  build K-route and ring pools  •  add global CP-SAT + ALNS  •  benchmark against greedy</a:t>
            </a:r>
          </a:p>
          <a:p xmlns:a="http://schemas.openxmlformats.org/drawingml/2006/main">
            <a:pPr algn="l">
              <a:spcAft>
                <a:spcPts val="200"/>
              </a:spcAft>
              <a:buNone/>
              <a:defRPr sz="1155">
                <a:solidFill>
                  <a:srgbClr val="334E68"/>
                </a:solidFill>
                <a:latin typeface="Aptos"/>
                <a:ea typeface="Aptos"/>
                <a:cs typeface="Aptos"/>
              </a:defRPr>
            </a:pPr>
            <a:r>
              <a:rPr sz="1155" b="0" i="0">
                <a:solidFill>
                  <a:srgbClr val="334E68"/>
                </a:solidFill>
                <a:latin typeface="Aptos"/>
                <a:ea typeface="Aptos"/>
                <a:cs typeface="Aptos"/>
              </a:rPr>
              <a:t>Help requested: confirmation of the final organiser input schema and checker interface.</a:t>
            </a:r>
          </a:p>
        </p:txBody>
      </p:sp>
    </p:spTree>
    <p:extLst>
      <p:ext uri="{BB962C8B-B14F-4D97-AF65-F5344CB8AC3E}">
        <p14:creationId xmlns:p14="http://schemas.microsoft.com/office/powerpoint/2010/main" val="432291057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2026-10-16T07:16:27.6720000Z</dcterms:created>
  <dcterms:modified xsi:type="dcterms:W3CDTF">2026-10-16T07:16:27.6720000Z</dcterms:modified>
</coreProperties>
</file>